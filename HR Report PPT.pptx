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DA4089-394D-4ED0-AC75-11262E501EB4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3BC8804-094A-4FE8-B26B-606A97F9C7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dataset contains 10,000 employee records, with 84.88% marked active and 15.12% inactive.</a:t>
          </a:r>
        </a:p>
      </dgm:t>
    </dgm:pt>
    <dgm:pt modelId="{A1945D51-31DC-4B33-BC1F-BECC5FB02E2B}" type="parTrans" cxnId="{AB2095B6-92AB-4555-A25B-B9DBC2695066}">
      <dgm:prSet/>
      <dgm:spPr/>
      <dgm:t>
        <a:bodyPr/>
        <a:lstStyle/>
        <a:p>
          <a:endParaRPr lang="en-US"/>
        </a:p>
      </dgm:t>
    </dgm:pt>
    <dgm:pt modelId="{A0FC465D-8DB7-4A19-9FB5-4688D58356FC}" type="sibTrans" cxnId="{AB2095B6-92AB-4555-A25B-B9DBC269506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AF5B431-355C-4C3F-95BA-B832BD8666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Average gross salary is ₹75,550, but the salary mix varies considerably across job roles.</a:t>
          </a:r>
        </a:p>
      </dgm:t>
    </dgm:pt>
    <dgm:pt modelId="{EDB6C74B-4A6E-4996-A7AE-74951AE9E5BF}" type="parTrans" cxnId="{4835092A-E542-4AFE-9333-78293021DDEC}">
      <dgm:prSet/>
      <dgm:spPr/>
      <dgm:t>
        <a:bodyPr/>
        <a:lstStyle/>
        <a:p>
          <a:endParaRPr lang="en-US"/>
        </a:p>
      </dgm:t>
    </dgm:pt>
    <dgm:pt modelId="{ED1AD7BA-CD24-4F11-89E1-F5E350137E12}" type="sibTrans" cxnId="{4835092A-E542-4AFE-9333-78293021DDE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C675E69-8F78-4897-B109-CA8612A608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Average performance is 3.8 out of 5; role averages shown are tightly clustered around the high 3s.</a:t>
          </a:r>
        </a:p>
      </dgm:t>
    </dgm:pt>
    <dgm:pt modelId="{9575F968-7CE8-41DE-91A6-75121532F73B}" type="parTrans" cxnId="{8B1C7BDB-B4EA-4BB4-9F42-EDEDCCB409E2}">
      <dgm:prSet/>
      <dgm:spPr/>
      <dgm:t>
        <a:bodyPr/>
        <a:lstStyle/>
        <a:p>
          <a:endParaRPr lang="en-US"/>
        </a:p>
      </dgm:t>
    </dgm:pt>
    <dgm:pt modelId="{BD993D0B-A92F-4296-8179-8AA9BB25D7EA}" type="sibTrans" cxnId="{8B1C7BDB-B4EA-4BB4-9F42-EDEDCCB409E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DF48C85-7C84-408C-80E2-23DE4ADD88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analysis identifies 2,522 employees meeting the defined high-value criteria for focused HR review.</a:t>
          </a:r>
        </a:p>
      </dgm:t>
    </dgm:pt>
    <dgm:pt modelId="{CDFF568B-81E4-4AD5-8E33-33C069DD10EC}" type="parTrans" cxnId="{82F1BCCC-FF6A-4A9C-A11D-587373B088FF}">
      <dgm:prSet/>
      <dgm:spPr/>
      <dgm:t>
        <a:bodyPr/>
        <a:lstStyle/>
        <a:p>
          <a:endParaRPr lang="en-US"/>
        </a:p>
      </dgm:t>
    </dgm:pt>
    <dgm:pt modelId="{DFEFAE86-B121-472E-9D9D-E84372CE1E62}" type="sibTrans" cxnId="{82F1BCCC-FF6A-4A9C-A11D-587373B088FF}">
      <dgm:prSet/>
      <dgm:spPr/>
      <dgm:t>
        <a:bodyPr/>
        <a:lstStyle/>
        <a:p>
          <a:endParaRPr lang="en-US"/>
        </a:p>
      </dgm:t>
    </dgm:pt>
    <dgm:pt modelId="{943C9A2F-2798-46E4-9608-ABF525989B5C}" type="pres">
      <dgm:prSet presAssocID="{9DDA4089-394D-4ED0-AC75-11262E501EB4}" presName="root" presStyleCnt="0">
        <dgm:presLayoutVars>
          <dgm:dir/>
          <dgm:resizeHandles val="exact"/>
        </dgm:presLayoutVars>
      </dgm:prSet>
      <dgm:spPr/>
    </dgm:pt>
    <dgm:pt modelId="{422621D0-FF21-4BD9-B9FE-DB3E7C67EB95}" type="pres">
      <dgm:prSet presAssocID="{9DDA4089-394D-4ED0-AC75-11262E501EB4}" presName="container" presStyleCnt="0">
        <dgm:presLayoutVars>
          <dgm:dir/>
          <dgm:resizeHandles val="exact"/>
        </dgm:presLayoutVars>
      </dgm:prSet>
      <dgm:spPr/>
    </dgm:pt>
    <dgm:pt modelId="{97B2BF07-5470-43BB-903F-F3DF25F575D2}" type="pres">
      <dgm:prSet presAssocID="{13BC8804-094A-4FE8-B26B-606A97F9C77A}" presName="compNode" presStyleCnt="0"/>
      <dgm:spPr/>
    </dgm:pt>
    <dgm:pt modelId="{8BC8B9F1-A51C-4B39-81BB-09D87AEBE611}" type="pres">
      <dgm:prSet presAssocID="{13BC8804-094A-4FE8-B26B-606A97F9C77A}" presName="iconBgRect" presStyleLbl="bgShp" presStyleIdx="0" presStyleCnt="4"/>
      <dgm:spPr/>
    </dgm:pt>
    <dgm:pt modelId="{F1230DC0-1B60-42D5-A705-2C97EE054FBF}" type="pres">
      <dgm:prSet presAssocID="{13BC8804-094A-4FE8-B26B-606A97F9C77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75815D9-4AF7-4EC1-92E0-349D9EBCD046}" type="pres">
      <dgm:prSet presAssocID="{13BC8804-094A-4FE8-B26B-606A97F9C77A}" presName="spaceRect" presStyleCnt="0"/>
      <dgm:spPr/>
    </dgm:pt>
    <dgm:pt modelId="{C66B2422-AF63-4E80-9485-68588230B71F}" type="pres">
      <dgm:prSet presAssocID="{13BC8804-094A-4FE8-B26B-606A97F9C77A}" presName="textRect" presStyleLbl="revTx" presStyleIdx="0" presStyleCnt="4">
        <dgm:presLayoutVars>
          <dgm:chMax val="1"/>
          <dgm:chPref val="1"/>
        </dgm:presLayoutVars>
      </dgm:prSet>
      <dgm:spPr/>
    </dgm:pt>
    <dgm:pt modelId="{8F4AD669-F718-4296-A7C3-32D4F2853719}" type="pres">
      <dgm:prSet presAssocID="{A0FC465D-8DB7-4A19-9FB5-4688D58356FC}" presName="sibTrans" presStyleLbl="sibTrans2D1" presStyleIdx="0" presStyleCnt="0"/>
      <dgm:spPr/>
    </dgm:pt>
    <dgm:pt modelId="{7B73F5EA-2646-40C6-B04E-6E29870FE88C}" type="pres">
      <dgm:prSet presAssocID="{BAF5B431-355C-4C3F-95BA-B832BD866654}" presName="compNode" presStyleCnt="0"/>
      <dgm:spPr/>
    </dgm:pt>
    <dgm:pt modelId="{82FA7515-AE32-4E45-ACB5-F09141F54FFB}" type="pres">
      <dgm:prSet presAssocID="{BAF5B431-355C-4C3F-95BA-B832BD866654}" presName="iconBgRect" presStyleLbl="bgShp" presStyleIdx="1" presStyleCnt="4"/>
      <dgm:spPr/>
    </dgm:pt>
    <dgm:pt modelId="{82006FD2-4050-4C33-BC11-FC11A3F76FE8}" type="pres">
      <dgm:prSet presAssocID="{BAF5B431-355C-4C3F-95BA-B832BD866654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CFFD97AE-D567-42C9-B271-54725C43F5D9}" type="pres">
      <dgm:prSet presAssocID="{BAF5B431-355C-4C3F-95BA-B832BD866654}" presName="spaceRect" presStyleCnt="0"/>
      <dgm:spPr/>
    </dgm:pt>
    <dgm:pt modelId="{B181AD14-9AD6-43AA-9A99-F6374434AF5A}" type="pres">
      <dgm:prSet presAssocID="{BAF5B431-355C-4C3F-95BA-B832BD866654}" presName="textRect" presStyleLbl="revTx" presStyleIdx="1" presStyleCnt="4">
        <dgm:presLayoutVars>
          <dgm:chMax val="1"/>
          <dgm:chPref val="1"/>
        </dgm:presLayoutVars>
      </dgm:prSet>
      <dgm:spPr/>
    </dgm:pt>
    <dgm:pt modelId="{D657BEF1-AA83-4F09-8FD1-843164A1AB5D}" type="pres">
      <dgm:prSet presAssocID="{ED1AD7BA-CD24-4F11-89E1-F5E350137E12}" presName="sibTrans" presStyleLbl="sibTrans2D1" presStyleIdx="0" presStyleCnt="0"/>
      <dgm:spPr/>
    </dgm:pt>
    <dgm:pt modelId="{E825A0B2-E371-479E-BFDD-8B409F4D43B8}" type="pres">
      <dgm:prSet presAssocID="{8C675E69-8F78-4897-B109-CA8612A6080C}" presName="compNode" presStyleCnt="0"/>
      <dgm:spPr/>
    </dgm:pt>
    <dgm:pt modelId="{86379471-9FEA-49EB-A03D-860020376FA1}" type="pres">
      <dgm:prSet presAssocID="{8C675E69-8F78-4897-B109-CA8612A6080C}" presName="iconBgRect" presStyleLbl="bgShp" presStyleIdx="2" presStyleCnt="4"/>
      <dgm:spPr/>
    </dgm:pt>
    <dgm:pt modelId="{8B44E45A-E5BF-48B0-AA26-D7C33F3F6E08}" type="pres">
      <dgm:prSet presAssocID="{8C675E69-8F78-4897-B109-CA8612A6080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F1C19F31-69D9-41CA-AB5E-AC2AB44D5097}" type="pres">
      <dgm:prSet presAssocID="{8C675E69-8F78-4897-B109-CA8612A6080C}" presName="spaceRect" presStyleCnt="0"/>
      <dgm:spPr/>
    </dgm:pt>
    <dgm:pt modelId="{7A7D7B15-5770-4EF4-9C36-7F02B9EA006B}" type="pres">
      <dgm:prSet presAssocID="{8C675E69-8F78-4897-B109-CA8612A6080C}" presName="textRect" presStyleLbl="revTx" presStyleIdx="2" presStyleCnt="4">
        <dgm:presLayoutVars>
          <dgm:chMax val="1"/>
          <dgm:chPref val="1"/>
        </dgm:presLayoutVars>
      </dgm:prSet>
      <dgm:spPr/>
    </dgm:pt>
    <dgm:pt modelId="{DF5C94B9-23AA-4258-8ACF-6E7B8B40BA35}" type="pres">
      <dgm:prSet presAssocID="{BD993D0B-A92F-4296-8179-8AA9BB25D7EA}" presName="sibTrans" presStyleLbl="sibTrans2D1" presStyleIdx="0" presStyleCnt="0"/>
      <dgm:spPr/>
    </dgm:pt>
    <dgm:pt modelId="{93D374F2-8C71-45D1-9E47-3593A9D054B4}" type="pres">
      <dgm:prSet presAssocID="{3DF48C85-7C84-408C-80E2-23DE4ADD883D}" presName="compNode" presStyleCnt="0"/>
      <dgm:spPr/>
    </dgm:pt>
    <dgm:pt modelId="{FC3DEB5E-51B4-476C-8665-E30D9A9C7B57}" type="pres">
      <dgm:prSet presAssocID="{3DF48C85-7C84-408C-80E2-23DE4ADD883D}" presName="iconBgRect" presStyleLbl="bgShp" presStyleIdx="3" presStyleCnt="4"/>
      <dgm:spPr/>
    </dgm:pt>
    <dgm:pt modelId="{0FB031FA-51E2-42A0-9D8B-31128E0E5812}" type="pres">
      <dgm:prSet presAssocID="{3DF48C85-7C84-408C-80E2-23DE4ADD883D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sentation with Org Chart"/>
        </a:ext>
      </dgm:extLst>
    </dgm:pt>
    <dgm:pt modelId="{E05989EE-8B1D-487D-A1B1-1C7A1EB5BFB4}" type="pres">
      <dgm:prSet presAssocID="{3DF48C85-7C84-408C-80E2-23DE4ADD883D}" presName="spaceRect" presStyleCnt="0"/>
      <dgm:spPr/>
    </dgm:pt>
    <dgm:pt modelId="{AE214099-52A6-47CA-8277-4D5FF8376AB1}" type="pres">
      <dgm:prSet presAssocID="{3DF48C85-7C84-408C-80E2-23DE4ADD883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B8C2E0F-4B39-46CF-89D4-0043F449A82E}" type="presOf" srcId="{A0FC465D-8DB7-4A19-9FB5-4688D58356FC}" destId="{8F4AD669-F718-4296-A7C3-32D4F2853719}" srcOrd="0" destOrd="0" presId="urn:microsoft.com/office/officeart/2018/2/layout/IconCircleList"/>
    <dgm:cxn modelId="{ACA81916-388B-4EDA-9773-DEF5F8B71739}" type="presOf" srcId="{ED1AD7BA-CD24-4F11-89E1-F5E350137E12}" destId="{D657BEF1-AA83-4F09-8FD1-843164A1AB5D}" srcOrd="0" destOrd="0" presId="urn:microsoft.com/office/officeart/2018/2/layout/IconCircleList"/>
    <dgm:cxn modelId="{D57A4922-03CC-48C6-9605-4F2F6E251F95}" type="presOf" srcId="{BAF5B431-355C-4C3F-95BA-B832BD866654}" destId="{B181AD14-9AD6-43AA-9A99-F6374434AF5A}" srcOrd="0" destOrd="0" presId="urn:microsoft.com/office/officeart/2018/2/layout/IconCircleList"/>
    <dgm:cxn modelId="{4835092A-E542-4AFE-9333-78293021DDEC}" srcId="{9DDA4089-394D-4ED0-AC75-11262E501EB4}" destId="{BAF5B431-355C-4C3F-95BA-B832BD866654}" srcOrd="1" destOrd="0" parTransId="{EDB6C74B-4A6E-4996-A7AE-74951AE9E5BF}" sibTransId="{ED1AD7BA-CD24-4F11-89E1-F5E350137E12}"/>
    <dgm:cxn modelId="{42E82343-48B0-4580-9F82-2A91C0644C60}" type="presOf" srcId="{8C675E69-8F78-4897-B109-CA8612A6080C}" destId="{7A7D7B15-5770-4EF4-9C36-7F02B9EA006B}" srcOrd="0" destOrd="0" presId="urn:microsoft.com/office/officeart/2018/2/layout/IconCircleList"/>
    <dgm:cxn modelId="{F7CD2F46-E8E6-40E0-8C04-F3934589D6C3}" type="presOf" srcId="{BD993D0B-A92F-4296-8179-8AA9BB25D7EA}" destId="{DF5C94B9-23AA-4258-8ACF-6E7B8B40BA35}" srcOrd="0" destOrd="0" presId="urn:microsoft.com/office/officeart/2018/2/layout/IconCircleList"/>
    <dgm:cxn modelId="{608273AF-6605-45CC-8E37-CBE6B96E0F50}" type="presOf" srcId="{3DF48C85-7C84-408C-80E2-23DE4ADD883D}" destId="{AE214099-52A6-47CA-8277-4D5FF8376AB1}" srcOrd="0" destOrd="0" presId="urn:microsoft.com/office/officeart/2018/2/layout/IconCircleList"/>
    <dgm:cxn modelId="{AB2095B6-92AB-4555-A25B-B9DBC2695066}" srcId="{9DDA4089-394D-4ED0-AC75-11262E501EB4}" destId="{13BC8804-094A-4FE8-B26B-606A97F9C77A}" srcOrd="0" destOrd="0" parTransId="{A1945D51-31DC-4B33-BC1F-BECC5FB02E2B}" sibTransId="{A0FC465D-8DB7-4A19-9FB5-4688D58356FC}"/>
    <dgm:cxn modelId="{82F1BCCC-FF6A-4A9C-A11D-587373B088FF}" srcId="{9DDA4089-394D-4ED0-AC75-11262E501EB4}" destId="{3DF48C85-7C84-408C-80E2-23DE4ADD883D}" srcOrd="3" destOrd="0" parTransId="{CDFF568B-81E4-4AD5-8E33-33C069DD10EC}" sibTransId="{DFEFAE86-B121-472E-9D9D-E84372CE1E62}"/>
    <dgm:cxn modelId="{8B1C7BDB-B4EA-4BB4-9F42-EDEDCCB409E2}" srcId="{9DDA4089-394D-4ED0-AC75-11262E501EB4}" destId="{8C675E69-8F78-4897-B109-CA8612A6080C}" srcOrd="2" destOrd="0" parTransId="{9575F968-7CE8-41DE-91A6-75121532F73B}" sibTransId="{BD993D0B-A92F-4296-8179-8AA9BB25D7EA}"/>
    <dgm:cxn modelId="{6162BCF5-E5D3-4858-A560-1F17C017ACDB}" type="presOf" srcId="{13BC8804-094A-4FE8-B26B-606A97F9C77A}" destId="{C66B2422-AF63-4E80-9485-68588230B71F}" srcOrd="0" destOrd="0" presId="urn:microsoft.com/office/officeart/2018/2/layout/IconCircleList"/>
    <dgm:cxn modelId="{DB60B4FC-3AC1-4F28-9430-073BE4148369}" type="presOf" srcId="{9DDA4089-394D-4ED0-AC75-11262E501EB4}" destId="{943C9A2F-2798-46E4-9608-ABF525989B5C}" srcOrd="0" destOrd="0" presId="urn:microsoft.com/office/officeart/2018/2/layout/IconCircleList"/>
    <dgm:cxn modelId="{EAA66583-AAFD-4A5B-AC16-1DACB26904B7}" type="presParOf" srcId="{943C9A2F-2798-46E4-9608-ABF525989B5C}" destId="{422621D0-FF21-4BD9-B9FE-DB3E7C67EB95}" srcOrd="0" destOrd="0" presId="urn:microsoft.com/office/officeart/2018/2/layout/IconCircleList"/>
    <dgm:cxn modelId="{43DF4339-FB5B-48E6-B5F9-318178673FB0}" type="presParOf" srcId="{422621D0-FF21-4BD9-B9FE-DB3E7C67EB95}" destId="{97B2BF07-5470-43BB-903F-F3DF25F575D2}" srcOrd="0" destOrd="0" presId="urn:microsoft.com/office/officeart/2018/2/layout/IconCircleList"/>
    <dgm:cxn modelId="{F1507EE7-1BC7-48F8-BA76-24FBAB4BC09D}" type="presParOf" srcId="{97B2BF07-5470-43BB-903F-F3DF25F575D2}" destId="{8BC8B9F1-A51C-4B39-81BB-09D87AEBE611}" srcOrd="0" destOrd="0" presId="urn:microsoft.com/office/officeart/2018/2/layout/IconCircleList"/>
    <dgm:cxn modelId="{F1B771EB-9483-4F98-A086-FAC95986B70F}" type="presParOf" srcId="{97B2BF07-5470-43BB-903F-F3DF25F575D2}" destId="{F1230DC0-1B60-42D5-A705-2C97EE054FBF}" srcOrd="1" destOrd="0" presId="urn:microsoft.com/office/officeart/2018/2/layout/IconCircleList"/>
    <dgm:cxn modelId="{3E78BD22-C7B6-4E58-8588-83695312BD76}" type="presParOf" srcId="{97B2BF07-5470-43BB-903F-F3DF25F575D2}" destId="{F75815D9-4AF7-4EC1-92E0-349D9EBCD046}" srcOrd="2" destOrd="0" presId="urn:microsoft.com/office/officeart/2018/2/layout/IconCircleList"/>
    <dgm:cxn modelId="{D54AC07A-1C59-4B27-838C-B277D7042C5B}" type="presParOf" srcId="{97B2BF07-5470-43BB-903F-F3DF25F575D2}" destId="{C66B2422-AF63-4E80-9485-68588230B71F}" srcOrd="3" destOrd="0" presId="urn:microsoft.com/office/officeart/2018/2/layout/IconCircleList"/>
    <dgm:cxn modelId="{0FF2CFFF-25E0-4E98-B90C-30B1E534FCCF}" type="presParOf" srcId="{422621D0-FF21-4BD9-B9FE-DB3E7C67EB95}" destId="{8F4AD669-F718-4296-A7C3-32D4F2853719}" srcOrd="1" destOrd="0" presId="urn:microsoft.com/office/officeart/2018/2/layout/IconCircleList"/>
    <dgm:cxn modelId="{4060D9D1-2F07-4DC6-8DB9-A1A78102A5B5}" type="presParOf" srcId="{422621D0-FF21-4BD9-B9FE-DB3E7C67EB95}" destId="{7B73F5EA-2646-40C6-B04E-6E29870FE88C}" srcOrd="2" destOrd="0" presId="urn:microsoft.com/office/officeart/2018/2/layout/IconCircleList"/>
    <dgm:cxn modelId="{DB670AD5-8878-4810-8162-DC2D074BD6D3}" type="presParOf" srcId="{7B73F5EA-2646-40C6-B04E-6E29870FE88C}" destId="{82FA7515-AE32-4E45-ACB5-F09141F54FFB}" srcOrd="0" destOrd="0" presId="urn:microsoft.com/office/officeart/2018/2/layout/IconCircleList"/>
    <dgm:cxn modelId="{ECBE5C4F-5ADA-4E20-B11A-80EC086DFB48}" type="presParOf" srcId="{7B73F5EA-2646-40C6-B04E-6E29870FE88C}" destId="{82006FD2-4050-4C33-BC11-FC11A3F76FE8}" srcOrd="1" destOrd="0" presId="urn:microsoft.com/office/officeart/2018/2/layout/IconCircleList"/>
    <dgm:cxn modelId="{04E454D9-B13A-4464-8489-25EE29A6483C}" type="presParOf" srcId="{7B73F5EA-2646-40C6-B04E-6E29870FE88C}" destId="{CFFD97AE-D567-42C9-B271-54725C43F5D9}" srcOrd="2" destOrd="0" presId="urn:microsoft.com/office/officeart/2018/2/layout/IconCircleList"/>
    <dgm:cxn modelId="{678998DF-3318-4C53-B6CB-701F260D1321}" type="presParOf" srcId="{7B73F5EA-2646-40C6-B04E-6E29870FE88C}" destId="{B181AD14-9AD6-43AA-9A99-F6374434AF5A}" srcOrd="3" destOrd="0" presId="urn:microsoft.com/office/officeart/2018/2/layout/IconCircleList"/>
    <dgm:cxn modelId="{E0A4186C-8FCF-4F18-BA66-9E4633BFD29B}" type="presParOf" srcId="{422621D0-FF21-4BD9-B9FE-DB3E7C67EB95}" destId="{D657BEF1-AA83-4F09-8FD1-843164A1AB5D}" srcOrd="3" destOrd="0" presId="urn:microsoft.com/office/officeart/2018/2/layout/IconCircleList"/>
    <dgm:cxn modelId="{462FADD6-7C1A-46AB-AF21-650EBAAA6FEA}" type="presParOf" srcId="{422621D0-FF21-4BD9-B9FE-DB3E7C67EB95}" destId="{E825A0B2-E371-479E-BFDD-8B409F4D43B8}" srcOrd="4" destOrd="0" presId="urn:microsoft.com/office/officeart/2018/2/layout/IconCircleList"/>
    <dgm:cxn modelId="{F670B20D-4EA3-4FA9-97DB-D25A8D8765C6}" type="presParOf" srcId="{E825A0B2-E371-479E-BFDD-8B409F4D43B8}" destId="{86379471-9FEA-49EB-A03D-860020376FA1}" srcOrd="0" destOrd="0" presId="urn:microsoft.com/office/officeart/2018/2/layout/IconCircleList"/>
    <dgm:cxn modelId="{3720A86A-05BE-4411-880B-BD78D624B317}" type="presParOf" srcId="{E825A0B2-E371-479E-BFDD-8B409F4D43B8}" destId="{8B44E45A-E5BF-48B0-AA26-D7C33F3F6E08}" srcOrd="1" destOrd="0" presId="urn:microsoft.com/office/officeart/2018/2/layout/IconCircleList"/>
    <dgm:cxn modelId="{E778A230-58E4-4C67-B94A-337E8DEC681F}" type="presParOf" srcId="{E825A0B2-E371-479E-BFDD-8B409F4D43B8}" destId="{F1C19F31-69D9-41CA-AB5E-AC2AB44D5097}" srcOrd="2" destOrd="0" presId="urn:microsoft.com/office/officeart/2018/2/layout/IconCircleList"/>
    <dgm:cxn modelId="{6A2AFE72-4496-4D00-8086-6F4461E59587}" type="presParOf" srcId="{E825A0B2-E371-479E-BFDD-8B409F4D43B8}" destId="{7A7D7B15-5770-4EF4-9C36-7F02B9EA006B}" srcOrd="3" destOrd="0" presId="urn:microsoft.com/office/officeart/2018/2/layout/IconCircleList"/>
    <dgm:cxn modelId="{E5AD280A-9314-481E-B625-81142A84B2B6}" type="presParOf" srcId="{422621D0-FF21-4BD9-B9FE-DB3E7C67EB95}" destId="{DF5C94B9-23AA-4258-8ACF-6E7B8B40BA35}" srcOrd="5" destOrd="0" presId="urn:microsoft.com/office/officeart/2018/2/layout/IconCircleList"/>
    <dgm:cxn modelId="{39F1A88B-1EB8-464C-BFE8-5077923777A3}" type="presParOf" srcId="{422621D0-FF21-4BD9-B9FE-DB3E7C67EB95}" destId="{93D374F2-8C71-45D1-9E47-3593A9D054B4}" srcOrd="6" destOrd="0" presId="urn:microsoft.com/office/officeart/2018/2/layout/IconCircleList"/>
    <dgm:cxn modelId="{8AB33D16-3365-4587-963C-A86EE5853AEA}" type="presParOf" srcId="{93D374F2-8C71-45D1-9E47-3593A9D054B4}" destId="{FC3DEB5E-51B4-476C-8665-E30D9A9C7B57}" srcOrd="0" destOrd="0" presId="urn:microsoft.com/office/officeart/2018/2/layout/IconCircleList"/>
    <dgm:cxn modelId="{291575A4-2EAE-4A44-8218-E97C155AC52E}" type="presParOf" srcId="{93D374F2-8C71-45D1-9E47-3593A9D054B4}" destId="{0FB031FA-51E2-42A0-9D8B-31128E0E5812}" srcOrd="1" destOrd="0" presId="urn:microsoft.com/office/officeart/2018/2/layout/IconCircleList"/>
    <dgm:cxn modelId="{66B6C98C-9362-4E39-866B-915AB8A0EA72}" type="presParOf" srcId="{93D374F2-8C71-45D1-9E47-3593A9D054B4}" destId="{E05989EE-8B1D-487D-A1B1-1C7A1EB5BFB4}" srcOrd="2" destOrd="0" presId="urn:microsoft.com/office/officeart/2018/2/layout/IconCircleList"/>
    <dgm:cxn modelId="{C75B6C78-5249-451D-AFB1-04D2A739E722}" type="presParOf" srcId="{93D374F2-8C71-45D1-9E47-3593A9D054B4}" destId="{AE214099-52A6-47CA-8277-4D5FF8376AB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C8B9F1-A51C-4B39-81BB-09D87AEBE611}">
      <dsp:nvSpPr>
        <dsp:cNvPr id="0" name=""/>
        <dsp:cNvSpPr/>
      </dsp:nvSpPr>
      <dsp:spPr>
        <a:xfrm>
          <a:off x="155981" y="459544"/>
          <a:ext cx="681111" cy="68111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230DC0-1B60-42D5-A705-2C97EE054FBF}">
      <dsp:nvSpPr>
        <dsp:cNvPr id="0" name=""/>
        <dsp:cNvSpPr/>
      </dsp:nvSpPr>
      <dsp:spPr>
        <a:xfrm>
          <a:off x="299014" y="602577"/>
          <a:ext cx="395044" cy="3950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6B2422-AF63-4E80-9485-68588230B71F}">
      <dsp:nvSpPr>
        <dsp:cNvPr id="0" name=""/>
        <dsp:cNvSpPr/>
      </dsp:nvSpPr>
      <dsp:spPr>
        <a:xfrm>
          <a:off x="983045" y="459544"/>
          <a:ext cx="1605478" cy="6811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 dataset contains 10,000 employee records, with 84.88% marked active and 15.12% inactive.</a:t>
          </a:r>
        </a:p>
      </dsp:txBody>
      <dsp:txXfrm>
        <a:off x="983045" y="459544"/>
        <a:ext cx="1605478" cy="681111"/>
      </dsp:txXfrm>
    </dsp:sp>
    <dsp:sp modelId="{82FA7515-AE32-4E45-ACB5-F09141F54FFB}">
      <dsp:nvSpPr>
        <dsp:cNvPr id="0" name=""/>
        <dsp:cNvSpPr/>
      </dsp:nvSpPr>
      <dsp:spPr>
        <a:xfrm>
          <a:off x="2868266" y="459544"/>
          <a:ext cx="681111" cy="68111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006FD2-4050-4C33-BC11-FC11A3F76FE8}">
      <dsp:nvSpPr>
        <dsp:cNvPr id="0" name=""/>
        <dsp:cNvSpPr/>
      </dsp:nvSpPr>
      <dsp:spPr>
        <a:xfrm>
          <a:off x="3011299" y="602577"/>
          <a:ext cx="395044" cy="3950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81AD14-9AD6-43AA-9A99-F6374434AF5A}">
      <dsp:nvSpPr>
        <dsp:cNvPr id="0" name=""/>
        <dsp:cNvSpPr/>
      </dsp:nvSpPr>
      <dsp:spPr>
        <a:xfrm>
          <a:off x="3695330" y="459544"/>
          <a:ext cx="1605478" cy="6811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Average gross salary is ₹75,550, but the salary mix varies considerably across job roles.</a:t>
          </a:r>
        </a:p>
      </dsp:txBody>
      <dsp:txXfrm>
        <a:off x="3695330" y="459544"/>
        <a:ext cx="1605478" cy="681111"/>
      </dsp:txXfrm>
    </dsp:sp>
    <dsp:sp modelId="{86379471-9FEA-49EB-A03D-860020376FA1}">
      <dsp:nvSpPr>
        <dsp:cNvPr id="0" name=""/>
        <dsp:cNvSpPr/>
      </dsp:nvSpPr>
      <dsp:spPr>
        <a:xfrm>
          <a:off x="5580551" y="459544"/>
          <a:ext cx="681111" cy="68111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44E45A-E5BF-48B0-AA26-D7C33F3F6E08}">
      <dsp:nvSpPr>
        <dsp:cNvPr id="0" name=""/>
        <dsp:cNvSpPr/>
      </dsp:nvSpPr>
      <dsp:spPr>
        <a:xfrm>
          <a:off x="5723584" y="602577"/>
          <a:ext cx="395044" cy="3950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7D7B15-5770-4EF4-9C36-7F02B9EA006B}">
      <dsp:nvSpPr>
        <dsp:cNvPr id="0" name=""/>
        <dsp:cNvSpPr/>
      </dsp:nvSpPr>
      <dsp:spPr>
        <a:xfrm>
          <a:off x="6407615" y="459544"/>
          <a:ext cx="1605478" cy="6811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Average performance is 3.8 out of 5; role averages shown are tightly clustered around the high 3s.</a:t>
          </a:r>
        </a:p>
      </dsp:txBody>
      <dsp:txXfrm>
        <a:off x="6407615" y="459544"/>
        <a:ext cx="1605478" cy="681111"/>
      </dsp:txXfrm>
    </dsp:sp>
    <dsp:sp modelId="{FC3DEB5E-51B4-476C-8665-E30D9A9C7B57}">
      <dsp:nvSpPr>
        <dsp:cNvPr id="0" name=""/>
        <dsp:cNvSpPr/>
      </dsp:nvSpPr>
      <dsp:spPr>
        <a:xfrm>
          <a:off x="8292836" y="459544"/>
          <a:ext cx="681111" cy="68111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B031FA-51E2-42A0-9D8B-31128E0E5812}">
      <dsp:nvSpPr>
        <dsp:cNvPr id="0" name=""/>
        <dsp:cNvSpPr/>
      </dsp:nvSpPr>
      <dsp:spPr>
        <a:xfrm>
          <a:off x="8435869" y="602577"/>
          <a:ext cx="395044" cy="3950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214099-52A6-47CA-8277-4D5FF8376AB1}">
      <dsp:nvSpPr>
        <dsp:cNvPr id="0" name=""/>
        <dsp:cNvSpPr/>
      </dsp:nvSpPr>
      <dsp:spPr>
        <a:xfrm>
          <a:off x="9119900" y="459544"/>
          <a:ext cx="1605478" cy="6811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 analysis identifies 2,522 employees meeting the defined high-value criteria for focused HR review.</a:t>
          </a:r>
        </a:p>
      </dsp:txBody>
      <dsp:txXfrm>
        <a:off x="9119900" y="459544"/>
        <a:ext cx="1605478" cy="6811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965960"/>
          </a:xfrm>
          <a:prstGeom prst="rect">
            <a:avLst/>
          </a:prstGeom>
          <a:solidFill>
            <a:srgbClr val="1C3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1272656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"/>
              </a:defRPr>
            </a:pPr>
            <a:r>
              <a:rPr dirty="0"/>
              <a:t>HR WORKFORCE AND</a:t>
            </a:r>
            <a:r>
              <a:rPr lang="en-US" dirty="0"/>
              <a:t> </a:t>
            </a:r>
          </a:p>
          <a:p>
            <a:pPr>
              <a:defRPr sz="3200" b="1">
                <a:solidFill>
                  <a:srgbClr val="FFFFFF"/>
                </a:solidFill>
                <a:latin typeface="Aptos"/>
              </a:defRPr>
            </a:pPr>
            <a:r>
              <a:rPr dirty="0"/>
              <a:t>PERFORMANCE ANALYS</a:t>
            </a:r>
            <a:r>
              <a:rPr lang="en-US" sz="3200" dirty="0"/>
              <a:t>IS</a:t>
            </a:r>
          </a:p>
          <a:p>
            <a:pPr>
              <a:defRPr sz="3200" b="1">
                <a:solidFill>
                  <a:srgbClr val="FFFFFF"/>
                </a:solidFill>
                <a:latin typeface="Aptos"/>
              </a:defRPr>
            </a:pPr>
            <a:r>
              <a:rPr lang="en-IN" sz="1600" dirty="0"/>
              <a:t>PROJECT REPORT BY SOMENATH SAU</a:t>
            </a:r>
            <a:endParaRPr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9601200" cy="45720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2300" b="1">
                <a:solidFill>
                  <a:srgbClr val="1C3B69"/>
                </a:solidFill>
                <a:latin typeface="Aptos"/>
              </a:defRPr>
            </a:pPr>
            <a:r>
              <a:t>Detailed Business Intelligence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852928"/>
            <a:ext cx="10332720" cy="41148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500" b="0">
                <a:solidFill>
                  <a:srgbClr val="5B697A"/>
                </a:solidFill>
                <a:latin typeface="Aptos"/>
              </a:defRPr>
            </a:pPr>
            <a:r>
              <a:t>Workforce composition  |  Compensation  |  Performance  |  HR priorities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886200"/>
            <a:ext cx="2606040" cy="11704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995928"/>
            <a:ext cx="2286000" cy="287771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 algn="ctr">
              <a:defRPr sz="1300" b="1">
                <a:solidFill>
                  <a:srgbClr val="1C3B69"/>
                </a:solidFill>
                <a:latin typeface="Aptos"/>
              </a:defRPr>
            </a:pPr>
            <a:r>
              <a:rPr sz="1600" dirty="0"/>
              <a:t>01  Workforce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343400"/>
            <a:ext cx="2286000" cy="256993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 algn="ctr">
              <a:defRPr sz="1100" b="0">
                <a:solidFill>
                  <a:srgbClr val="26303E"/>
                </a:solidFill>
                <a:latin typeface="Aptos"/>
              </a:defRPr>
            </a:pPr>
            <a:r>
              <a:rPr sz="1400" dirty="0"/>
              <a:t>Who is in the workforce?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3886200"/>
            <a:ext cx="2606040" cy="11704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39" y="3995928"/>
            <a:ext cx="2286000" cy="287771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 algn="ctr">
              <a:defRPr sz="1300" b="1">
                <a:solidFill>
                  <a:srgbClr val="1C3B69"/>
                </a:solidFill>
                <a:latin typeface="Aptos"/>
              </a:defRPr>
            </a:pPr>
            <a:r>
              <a:rPr sz="1600" dirty="0"/>
              <a:t>02  Compensation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4343400"/>
            <a:ext cx="2286000" cy="256993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 algn="ctr">
              <a:defRPr sz="1100" b="0">
                <a:solidFill>
                  <a:srgbClr val="26303E"/>
                </a:solidFill>
                <a:latin typeface="Aptos"/>
              </a:defRPr>
            </a:pPr>
            <a:r>
              <a:rPr sz="1400" dirty="0"/>
              <a:t>How is pay distributed?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3886200"/>
            <a:ext cx="2606040" cy="117043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3995928"/>
            <a:ext cx="2286000" cy="287771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 algn="ctr">
              <a:defRPr sz="1300" b="1">
                <a:solidFill>
                  <a:srgbClr val="1C3B69"/>
                </a:solidFill>
                <a:latin typeface="Aptos"/>
              </a:defRPr>
            </a:pPr>
            <a:r>
              <a:rPr sz="1600" dirty="0"/>
              <a:t>03 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343400"/>
            <a:ext cx="2286000" cy="472437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 algn="ctr">
              <a:defRPr sz="1100" b="0">
                <a:solidFill>
                  <a:srgbClr val="26303E"/>
                </a:solidFill>
                <a:latin typeface="Aptos"/>
              </a:defRPr>
            </a:pPr>
            <a:r>
              <a:rPr sz="1400"/>
              <a:t>How are employees performing?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3886200"/>
            <a:ext cx="2606040" cy="1170432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2700"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59" y="3995928"/>
            <a:ext cx="2286000" cy="287771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 algn="ctr">
              <a:defRPr sz="1300" b="1">
                <a:solidFill>
                  <a:srgbClr val="1C3B69"/>
                </a:solidFill>
                <a:latin typeface="Aptos"/>
              </a:defRPr>
            </a:pPr>
            <a:r>
              <a:rPr sz="1600" dirty="0"/>
              <a:t>04  HR Insight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59" y="4343400"/>
            <a:ext cx="2286000" cy="256993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 algn="ctr">
              <a:defRPr sz="1100" b="0">
                <a:solidFill>
                  <a:srgbClr val="26303E"/>
                </a:solidFill>
                <a:latin typeface="Aptos"/>
              </a:defRPr>
            </a:pPr>
            <a:r>
              <a:rPr sz="1400" dirty="0"/>
              <a:t>Where should HR focus?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989320"/>
            <a:ext cx="8686800" cy="287771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200" b="0">
                <a:solidFill>
                  <a:srgbClr val="5B697A"/>
                </a:solidFill>
                <a:latin typeface="Aptos"/>
              </a:defRPr>
            </a:pPr>
            <a:r>
              <a:rPr sz="1600" dirty="0"/>
              <a:t>Analysis of a 10,000-employee workforce dataset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65392"/>
            <a:ext cx="9601200" cy="146304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HR Workforce And Performance Analysis  •  Somenath Sau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 algn="r">
              <a:defRPr sz="800" b="0">
                <a:solidFill>
                  <a:srgbClr val="5B697A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7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19456"/>
            <a:ext cx="2743200" cy="18288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800" b="1">
                <a:solidFill>
                  <a:srgbClr val="008C84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41148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2400" b="1">
                <a:solidFill>
                  <a:srgbClr val="1C3B69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1064240" cy="32004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000" b="0">
                <a:solidFill>
                  <a:srgbClr val="5B697A"/>
                </a:solidFill>
                <a:latin typeface="Aptos"/>
              </a:defRPr>
            </a:pPr>
            <a:r>
              <a:t>The report combines descriptive workforce analysis with practical HR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325880"/>
            <a:ext cx="2121408" cy="78638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77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3" y="1408176"/>
            <a:ext cx="1975103" cy="347472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 algn="ctr">
              <a:defRPr sz="2200" b="1">
                <a:solidFill>
                  <a:srgbClr val="1C3B69"/>
                </a:solidFill>
                <a:latin typeface="Aptos"/>
              </a:defRPr>
            </a:pPr>
            <a:r>
              <a:t>10,000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3" y="1792224"/>
            <a:ext cx="1975103" cy="201168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 algn="ctr">
              <a:defRPr sz="900" b="0">
                <a:solidFill>
                  <a:srgbClr val="5B697A"/>
                </a:solidFill>
                <a:latin typeface="Aptos"/>
              </a:defRPr>
            </a:pPr>
            <a:r>
              <a:t>Total employees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325880"/>
            <a:ext cx="2121408" cy="78638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F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62072" y="1408176"/>
            <a:ext cx="1975103" cy="347472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 algn="ctr">
              <a:defRPr sz="2200" b="1">
                <a:solidFill>
                  <a:srgbClr val="1C3B69"/>
                </a:solidFill>
                <a:latin typeface="Aptos"/>
              </a:defRPr>
            </a:pPr>
            <a:r>
              <a:t>8,488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2072" y="1792224"/>
            <a:ext cx="1975103" cy="201168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 algn="ctr">
              <a:defRPr sz="900" b="0">
                <a:solidFill>
                  <a:srgbClr val="5B697A"/>
                </a:solidFill>
                <a:latin typeface="Aptos"/>
              </a:defRPr>
            </a:pPr>
            <a:r>
              <a:t>Active employees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38927" y="1325880"/>
            <a:ext cx="2121408" cy="78638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24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79" y="1408176"/>
            <a:ext cx="1975103" cy="347472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 algn="ctr">
              <a:defRPr sz="2200" b="1">
                <a:solidFill>
                  <a:srgbClr val="1C3B69"/>
                </a:solidFill>
                <a:latin typeface="Aptos"/>
              </a:defRPr>
            </a:pPr>
            <a:r>
              <a:t>1,512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9" y="1792224"/>
            <a:ext cx="1975103" cy="201168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 algn="ctr">
              <a:defRPr sz="900" b="0">
                <a:solidFill>
                  <a:srgbClr val="5B697A"/>
                </a:solidFill>
                <a:latin typeface="Aptos"/>
              </a:defRPr>
            </a:pPr>
            <a:r>
              <a:t>Inactive employees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88936" y="1325880"/>
            <a:ext cx="2121408" cy="78638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62088" y="1408176"/>
            <a:ext cx="1975103" cy="347472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 algn="ctr">
              <a:defRPr sz="2200" b="1">
                <a:solidFill>
                  <a:srgbClr val="1C3B69"/>
                </a:solidFill>
                <a:latin typeface="Aptos"/>
              </a:defRPr>
            </a:pPr>
            <a:r>
              <a:t>3.8 /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2088" y="1792224"/>
            <a:ext cx="1975103" cy="201168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 algn="ctr">
              <a:defRPr sz="900" b="0">
                <a:solidFill>
                  <a:srgbClr val="5B697A"/>
                </a:solidFill>
                <a:latin typeface="Aptos"/>
              </a:defRPr>
            </a:pPr>
            <a:r>
              <a:t>Average performance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38944" y="1325880"/>
            <a:ext cx="2121408" cy="78638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BA5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12096" y="1408176"/>
            <a:ext cx="1975103" cy="347472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 algn="ctr">
              <a:defRPr sz="2200" b="1">
                <a:solidFill>
                  <a:srgbClr val="1C3B69"/>
                </a:solidFill>
                <a:latin typeface="Aptos"/>
              </a:defRPr>
            </a:pPr>
            <a:r>
              <a:t>₹75,550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12096" y="1792224"/>
            <a:ext cx="1975103" cy="201168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 algn="ctr">
              <a:defRPr sz="900" b="0">
                <a:solidFill>
                  <a:srgbClr val="5B697A"/>
                </a:solidFill>
                <a:latin typeface="Aptos"/>
              </a:defRPr>
            </a:pPr>
            <a:r>
              <a:t>Average gross salary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2514600"/>
            <a:ext cx="5394960" cy="114300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2624328"/>
            <a:ext cx="5074920" cy="27432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400" b="1">
                <a:solidFill>
                  <a:srgbClr val="1C3B69"/>
                </a:solidFill>
                <a:latin typeface="Aptos"/>
              </a:defRPr>
            </a:pPr>
            <a:r>
              <a:t>What the report covers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2971800"/>
            <a:ext cx="5074920" cy="612648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100" b="0">
                <a:solidFill>
                  <a:srgbClr val="26303E"/>
                </a:solidFill>
                <a:latin typeface="Aptos"/>
              </a:defRPr>
            </a:pPr>
            <a:r>
              <a:t>Four Power BI pages explore employee profile, pay patterns, performance ratings, and a defined high-value employee segment.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2514600"/>
            <a:ext cx="5394960" cy="114300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82512" y="2624328"/>
            <a:ext cx="5074920" cy="27432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400" b="1">
                <a:solidFill>
                  <a:srgbClr val="1C3B69"/>
                </a:solidFill>
                <a:latin typeface="Aptos"/>
              </a:defRPr>
            </a:pPr>
            <a:r>
              <a:t>How to read the findings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971800"/>
            <a:ext cx="5074920" cy="612648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100" b="0">
                <a:solidFill>
                  <a:srgbClr val="26303E"/>
                </a:solidFill>
                <a:latin typeface="Aptos"/>
              </a:defRPr>
            </a:pPr>
            <a:r>
              <a:t>Results are descriptive. Patterns show where to investigate; they do not prove causes, fairness, or future employee behaviour.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069080"/>
            <a:ext cx="3657600" cy="32004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700" b="1">
                <a:solidFill>
                  <a:srgbClr val="1C3B69"/>
                </a:solidFill>
                <a:latin typeface="Aptos"/>
              </a:defRPr>
            </a:pPr>
            <a:r>
              <a:t>Executive messages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65392"/>
            <a:ext cx="9601200" cy="146304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HR Workforce And Performance Analysis  •  Somenath Sau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 algn="r">
              <a:defRPr sz="800" b="0">
                <a:solidFill>
                  <a:srgbClr val="5B697A"/>
                </a:solidFill>
                <a:latin typeface="Aptos"/>
              </a:defRPr>
            </a:pPr>
            <a:r>
              <a:t>2</a:t>
            </a:r>
          </a:p>
        </p:txBody>
      </p:sp>
      <p:graphicFrame>
        <p:nvGraphicFramePr>
          <p:cNvPr id="34" name="TextBox 29">
            <a:extLst>
              <a:ext uri="{FF2B5EF4-FFF2-40B4-BE49-F238E27FC236}">
                <a16:creationId xmlns:a16="http://schemas.microsoft.com/office/drawing/2014/main" id="{EA578D46-63BA-0078-5D69-018D3B0A9E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7742"/>
              </p:ext>
            </p:extLst>
          </p:nvPr>
        </p:nvGraphicFramePr>
        <p:xfrm>
          <a:off x="685800" y="4480560"/>
          <a:ext cx="10881360" cy="160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7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19456"/>
            <a:ext cx="2743200" cy="18288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800" b="1">
                <a:solidFill>
                  <a:srgbClr val="008C84"/>
                </a:solidFill>
                <a:latin typeface="Aptos"/>
              </a:defRPr>
            </a:pPr>
            <a:r>
              <a:t>PROJECT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41148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2400" b="1">
                <a:solidFill>
                  <a:srgbClr val="1C3B69"/>
                </a:solidFill>
                <a:latin typeface="Aptos"/>
              </a:defRPr>
            </a:pPr>
            <a:r>
              <a:t>Business Objective &amp; Analytical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1064240" cy="32004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000" b="0">
                <a:solidFill>
                  <a:srgbClr val="5B697A"/>
                </a:solidFill>
                <a:latin typeface="Aptos"/>
              </a:defRPr>
            </a:pPr>
            <a:r>
              <a:t>The report is organized around decisions a people or HR team may need to make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520440" cy="141732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35607"/>
            <a:ext cx="3200400" cy="27432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400" b="1">
                <a:solidFill>
                  <a:srgbClr val="1C3B69"/>
                </a:solidFill>
                <a:latin typeface="Aptos"/>
              </a:defRPr>
            </a:pPr>
            <a:r>
              <a:t>Workforce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3200400" cy="886968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100" b="0">
                <a:solidFill>
                  <a:srgbClr val="26303E"/>
                </a:solidFill>
                <a:latin typeface="Aptos"/>
              </a:defRPr>
            </a:pPr>
            <a:r>
              <a:t>What is the workforce size and active status? How are employees distributed by role, department, qualification, gender, and hiring month?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520440" cy="141732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435607"/>
            <a:ext cx="3200400" cy="27432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400" b="1">
                <a:solidFill>
                  <a:srgbClr val="1C3B69"/>
                </a:solidFill>
                <a:latin typeface="Aptos"/>
              </a:defRPr>
            </a:pPr>
            <a:r>
              <a:t>Compensation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783080"/>
            <a:ext cx="3200400" cy="886968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100" b="0">
                <a:solidFill>
                  <a:srgbClr val="26303E"/>
                </a:solidFill>
                <a:latin typeface="Aptos"/>
              </a:defRPr>
            </a:pPr>
            <a:r>
              <a:t>How do average salaries differ by department and role? How does experience relate to gross salary? How much bonus is paid on average?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25880"/>
            <a:ext cx="3520440" cy="141732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19" y="1435607"/>
            <a:ext cx="3200400" cy="27432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400" b="1">
                <a:solidFill>
                  <a:srgbClr val="1C3B69"/>
                </a:solidFill>
                <a:latin typeface="Aptos"/>
              </a:defRPr>
            </a:pPr>
            <a:r>
              <a:t>Performance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83080"/>
            <a:ext cx="3200400" cy="886968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100" b="0">
                <a:solidFill>
                  <a:srgbClr val="26303E"/>
                </a:solidFill>
                <a:latin typeface="Aptos"/>
              </a:defRPr>
            </a:pPr>
            <a:r>
              <a:t>How do ratings vary by department and role? What does the rating distribution look like? How does salary relate to ratings?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154680"/>
            <a:ext cx="4572000" cy="32004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700" b="1">
                <a:solidFill>
                  <a:srgbClr val="1C3B69"/>
                </a:solidFill>
                <a:latin typeface="Aptos"/>
              </a:defRPr>
            </a:pPr>
            <a:r>
              <a:t>Core analytical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566160"/>
            <a:ext cx="6766560" cy="21031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•  Which departments and roles account for the largest employee counts?</a:t>
            </a:r>
          </a:p>
          <a:p>
            <a:pPr>
              <a:spcAft>
                <a:spcPts val="80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•  Are hiring volumes consistent across months or do they show peaks and dips?</a:t>
            </a:r>
          </a:p>
          <a:p>
            <a:pPr>
              <a:spcAft>
                <a:spcPts val="80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•  Which job roles have the highest and lowest average salary in this dataset?</a:t>
            </a:r>
          </a:p>
          <a:p>
            <a:pPr>
              <a:spcAft>
                <a:spcPts val="80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•  Do higher salary values consistently align with higher performance ratings?</a:t>
            </a:r>
          </a:p>
          <a:p>
            <a:pPr>
              <a:spcAft>
                <a:spcPts val="80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•  Which departments and roles contain the largest counts of employees meeting the project's high-value definition?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3246120"/>
            <a:ext cx="3703320" cy="182880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01000" y="3355848"/>
            <a:ext cx="3383279" cy="27432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400" b="1">
                <a:solidFill>
                  <a:srgbClr val="1C3B69"/>
                </a:solidFill>
                <a:latin typeface="Aptos"/>
              </a:defRPr>
            </a:pPr>
            <a:r>
              <a:t>Intended audience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3703320"/>
            <a:ext cx="3383279" cy="1298448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200" b="0">
                <a:solidFill>
                  <a:srgbClr val="26303E"/>
                </a:solidFill>
                <a:latin typeface="Aptos"/>
              </a:defRPr>
            </a:pPr>
            <a:r>
              <a:t>HR analysts, people managers, and business stakeholders who need a concise view of workforce structure, compensation, performance, and areas for further investigation.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65392"/>
            <a:ext cx="9601200" cy="146304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HR Workforce And Performance Analysis  •  Somenath Sau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 algn="r">
              <a:defRPr sz="800" b="0">
                <a:solidFill>
                  <a:srgbClr val="5B697A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7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19456"/>
            <a:ext cx="2743200" cy="18288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800" b="1">
                <a:solidFill>
                  <a:srgbClr val="008C84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41148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2400" b="1">
                <a:solidFill>
                  <a:srgbClr val="1C3B69"/>
                </a:solidFill>
                <a:latin typeface="Aptos"/>
              </a:defRPr>
            </a:pPr>
            <a:r>
              <a:t>Data Validation &amp; Preparation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892011"/>
            <a:ext cx="6433443" cy="195438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000" b="0">
                <a:solidFill>
                  <a:srgbClr val="5B697A"/>
                </a:solidFill>
                <a:latin typeface="Aptos"/>
              </a:defRPr>
            </a:pPr>
            <a:r>
              <a:t>Validation results from the four supplied CSV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3657600" cy="32004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700" b="1">
                <a:solidFill>
                  <a:srgbClr val="1C3B69"/>
                </a:solidFill>
                <a:latin typeface="Aptos"/>
              </a:defRPr>
            </a:pPr>
            <a:r>
              <a:t>Dataset checks performed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903720" cy="65836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847088"/>
            <a:ext cx="6583680" cy="226216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200" b="1">
                <a:solidFill>
                  <a:srgbClr val="1C3B69"/>
                </a:solidFill>
                <a:latin typeface="Aptos"/>
              </a:defRPr>
            </a:pPr>
            <a:r>
              <a:rPr dirty="0"/>
              <a:t>1. </a:t>
            </a:r>
            <a:r>
              <a:rPr sz="1200" dirty="0"/>
              <a:t>Completeness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41247" y="2066544"/>
            <a:ext cx="6470953" cy="210827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000" b="0">
                <a:solidFill>
                  <a:srgbClr val="26303E"/>
                </a:solidFill>
                <a:latin typeface="Aptos"/>
              </a:defRPr>
            </a:pPr>
            <a:r>
              <a:rPr dirty="0"/>
              <a:t>All </a:t>
            </a:r>
            <a:r>
              <a:rPr lang="en-US" dirty="0"/>
              <a:t>datasets</a:t>
            </a:r>
            <a:r>
              <a:rPr dirty="0"/>
              <a:t> were checked for </a:t>
            </a:r>
            <a:r>
              <a:rPr sz="1100" dirty="0"/>
              <a:t>row</a:t>
            </a:r>
            <a:r>
              <a:rPr dirty="0"/>
              <a:t> counts, data types, missing values, and duplicate </a:t>
            </a:r>
            <a:r>
              <a:rPr sz="1100" dirty="0"/>
              <a:t>rows</a:t>
            </a:r>
            <a:r>
              <a:rPr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42032"/>
            <a:ext cx="6903720" cy="65836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7" y="2651760"/>
            <a:ext cx="6583680" cy="226216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200" b="1">
                <a:solidFill>
                  <a:srgbClr val="1C3B69"/>
                </a:solidFill>
                <a:latin typeface="Aptos"/>
              </a:defRPr>
            </a:pPr>
            <a:r>
              <a:rPr dirty="0"/>
              <a:t>2. </a:t>
            </a:r>
            <a:r>
              <a:rPr sz="1200" b="1" dirty="0">
                <a:solidFill>
                  <a:srgbClr val="1C3B69"/>
                </a:solidFill>
                <a:latin typeface="Aptos"/>
              </a:rPr>
              <a:t>Key</a:t>
            </a:r>
            <a:r>
              <a:rPr dirty="0"/>
              <a:t> integrity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882290"/>
            <a:ext cx="6583680" cy="210827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000" b="0">
                <a:solidFill>
                  <a:srgbClr val="26303E"/>
                </a:solidFill>
                <a:latin typeface="Aptos"/>
              </a:defRPr>
            </a:pPr>
            <a:r>
              <a:rPr dirty="0"/>
              <a:t>Employee </a:t>
            </a:r>
            <a:r>
              <a:rPr sz="1000" dirty="0">
                <a:solidFill>
                  <a:srgbClr val="26303E"/>
                </a:solidFill>
                <a:latin typeface="Aptos"/>
              </a:rPr>
              <a:t>IDs</a:t>
            </a:r>
            <a:r>
              <a:rPr dirty="0"/>
              <a:t> match </a:t>
            </a:r>
            <a:r>
              <a:rPr sz="1100" dirty="0"/>
              <a:t>across</a:t>
            </a:r>
            <a:r>
              <a:rPr dirty="0"/>
              <a:t> </a:t>
            </a:r>
            <a:r>
              <a:rPr dirty="0" err="1"/>
              <a:t>emp_info</a:t>
            </a:r>
            <a:r>
              <a:rPr dirty="0"/>
              <a:t> and </a:t>
            </a:r>
            <a:r>
              <a:rPr dirty="0" err="1"/>
              <a:t>emp_salary</a:t>
            </a:r>
            <a:r>
              <a:rPr dirty="0"/>
              <a:t>; department and role IDs match their dimension tables.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346704"/>
            <a:ext cx="6903720" cy="65836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7" y="3456432"/>
            <a:ext cx="6583680" cy="27432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200" b="1">
                <a:solidFill>
                  <a:srgbClr val="1C3B69"/>
                </a:solidFill>
                <a:latin typeface="Aptos"/>
              </a:defRPr>
            </a:pPr>
            <a:r>
              <a:rPr dirty="0"/>
              <a:t>3. Date and rating 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3736985"/>
            <a:ext cx="6583680" cy="210827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000" b="0">
                <a:solidFill>
                  <a:srgbClr val="26303E"/>
                </a:solidFill>
                <a:latin typeface="Aptos"/>
              </a:defRPr>
            </a:pPr>
            <a:r>
              <a:rPr sz="1100" dirty="0"/>
              <a:t>DOB and </a:t>
            </a:r>
            <a:r>
              <a:rPr sz="1100" dirty="0" err="1"/>
              <a:t>hire_date</a:t>
            </a:r>
            <a:r>
              <a:rPr sz="1100" dirty="0"/>
              <a:t> </a:t>
            </a:r>
            <a:r>
              <a:rPr sz="1000" dirty="0"/>
              <a:t>parse</a:t>
            </a:r>
            <a:r>
              <a:rPr sz="1100" dirty="0"/>
              <a:t> successfully using day-first dates; performance ratings range from 1.5 to 5.0.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151376"/>
            <a:ext cx="6903720" cy="65836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4261104"/>
            <a:ext cx="6583680" cy="27432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200" b="1">
                <a:solidFill>
                  <a:srgbClr val="1C3B69"/>
                </a:solidFill>
                <a:latin typeface="Aptos"/>
              </a:defRPr>
            </a:pPr>
            <a:r>
              <a:rPr dirty="0"/>
              <a:t>4. Numeric checks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0911" y="4484900"/>
            <a:ext cx="6583680" cy="203133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000" b="0">
                <a:solidFill>
                  <a:srgbClr val="26303E"/>
                </a:solidFill>
                <a:latin typeface="Aptos"/>
              </a:defRPr>
            </a:pPr>
            <a:r>
              <a:rPr sz="1000" dirty="0"/>
              <a:t>Salary and deduction fields contain no missing values or negative amounts; experience ranges from 0 to 12 years.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956048"/>
            <a:ext cx="6903720" cy="65836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7" y="5065776"/>
            <a:ext cx="6583680" cy="27432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200" b="1">
                <a:solidFill>
                  <a:srgbClr val="1C3B69"/>
                </a:solidFill>
                <a:latin typeface="Aptos"/>
              </a:defRPr>
            </a:pPr>
            <a:r>
              <a:rPr dirty="0"/>
              <a:t>5. Model 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0911" y="5310280"/>
            <a:ext cx="6583680" cy="128016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000" b="0">
                <a:solidFill>
                  <a:srgbClr val="26303E"/>
                </a:solidFill>
                <a:latin typeface="Aptos"/>
              </a:defRPr>
            </a:pPr>
            <a:r>
              <a:rPr dirty="0"/>
              <a:t>The model uses </a:t>
            </a:r>
            <a:r>
              <a:rPr dirty="0" err="1"/>
              <a:t>emp_info</a:t>
            </a:r>
            <a:r>
              <a:rPr dirty="0"/>
              <a:t>, </a:t>
            </a:r>
            <a:r>
              <a:rPr dirty="0" err="1"/>
              <a:t>emp_salary</a:t>
            </a:r>
            <a:r>
              <a:rPr dirty="0"/>
              <a:t>, department, and </a:t>
            </a:r>
            <a:r>
              <a:rPr dirty="0" err="1"/>
              <a:t>job_roles</a:t>
            </a:r>
            <a:r>
              <a:rPr dirty="0"/>
              <a:t> linked by employee, department, and role IDs.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65392"/>
            <a:ext cx="9601200" cy="146304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HR Workforce And Performance Analysis  •  Somenath Sau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 algn="r">
              <a:defRPr sz="800" b="0">
                <a:solidFill>
                  <a:srgbClr val="5B697A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7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19456"/>
            <a:ext cx="2743200" cy="18288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800" b="1">
                <a:solidFill>
                  <a:srgbClr val="008C84"/>
                </a:solidFill>
                <a:latin typeface="Aptos"/>
              </a:defRPr>
            </a:pPr>
            <a:r>
              <a:t>DASHBOARD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41148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2400" b="1">
                <a:solidFill>
                  <a:srgbClr val="1C3B69"/>
                </a:solidFill>
                <a:latin typeface="Aptos"/>
              </a:defRPr>
            </a:pPr>
            <a:r>
              <a:t>Workforce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1064240" cy="32004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000" b="0">
                <a:solidFill>
                  <a:srgbClr val="5B697A"/>
                </a:solidFill>
                <a:latin typeface="Aptos"/>
              </a:defRPr>
            </a:pPr>
            <a:r>
              <a:t>Who is represented in the dataset and how is the workforce distributed?</a:t>
            </a:r>
          </a:p>
        </p:txBody>
      </p:sp>
      <p:pic>
        <p:nvPicPr>
          <p:cNvPr id="6" name="Picture 5" descr="image(20261011-06350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298448"/>
            <a:ext cx="6995160" cy="39413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35240" y="1307592"/>
            <a:ext cx="4069080" cy="384048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600" b="1">
                <a:solidFill>
                  <a:srgbClr val="1C3B69"/>
                </a:solidFill>
                <a:latin typeface="Aptos"/>
              </a:defRPr>
            </a:pPr>
            <a:r>
              <a:t>Key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83080"/>
            <a:ext cx="4069080" cy="333756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•  Total employees: 10,000; 8,488 are active and 1,512 are inactive.</a:t>
            </a:r>
          </a:p>
          <a:p>
            <a:pPr>
              <a:spcAft>
                <a:spcPts val="80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•  Active employees represent 84.88% of the dataset; inactive employees represent 15.12%.</a:t>
            </a:r>
          </a:p>
          <a:p>
            <a:pPr>
              <a:spcAft>
                <a:spcPts val="80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•  Product is the largest department by headcount (1,166), followed by Engineering (1,131) and Sales (1,128).</a:t>
            </a:r>
          </a:p>
          <a:p>
            <a:pPr>
              <a:spcAft>
                <a:spcPts val="80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•  Bachelor's qualification is the largest category shown (4,981), followed by Master's (2,981).</a:t>
            </a:r>
          </a:p>
          <a:p>
            <a:pPr>
              <a:spcAft>
                <a:spcPts val="80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•  Gender distribution is nearly balanced: Female 50.17% and Male 49.83%.</a:t>
            </a:r>
          </a:p>
          <a:p>
            <a:pPr>
              <a:spcAft>
                <a:spcPts val="80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•  Monthly hiring ranges from 757 to 903 in the displayed chart.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07808" y="5212080"/>
            <a:ext cx="4096512" cy="969264"/>
          </a:xfrm>
          <a:prstGeom prst="roundRect">
            <a:avLst/>
          </a:prstGeom>
          <a:solidFill>
            <a:srgbClr val="E0EFFC"/>
          </a:solidFill>
          <a:ln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90688" y="5321808"/>
            <a:ext cx="3657600" cy="18288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900" b="1">
                <a:solidFill>
                  <a:srgbClr val="008C84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5532120"/>
            <a:ext cx="3657600" cy="347472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000" b="0">
                <a:solidFill>
                  <a:srgbClr val="26303E"/>
                </a:solidFill>
                <a:latin typeface="Aptos"/>
              </a:defRPr>
            </a:pPr>
            <a:r>
              <a:t>The report provides a baseline for headcount, composition, and hiring patterns. Monthly variation is visible, but the chart alone does not explain why it occurs.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9601200" cy="146304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HR Workforce And Performance Analysis  •  Somenath Sau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 algn="r">
              <a:defRPr sz="800" b="0">
                <a:solidFill>
                  <a:srgbClr val="5B697A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7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19456"/>
            <a:ext cx="2743200" cy="18288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800" b="1">
                <a:solidFill>
                  <a:srgbClr val="008C84"/>
                </a:solidFill>
                <a:latin typeface="Aptos"/>
              </a:defRPr>
            </a:pPr>
            <a:r>
              <a:t>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41148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2400" b="1">
                <a:solidFill>
                  <a:srgbClr val="1C3B69"/>
                </a:solidFill>
                <a:latin typeface="Aptos"/>
              </a:defRPr>
            </a:pPr>
            <a:r>
              <a:rPr dirty="0"/>
              <a:t>Workforce Overview </a:t>
            </a:r>
            <a:r>
              <a:rPr lang="en-US" dirty="0"/>
              <a:t>-</a:t>
            </a:r>
            <a:r>
              <a:rPr dirty="0"/>
              <a:t>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1064240" cy="32004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000" b="0">
                <a:solidFill>
                  <a:srgbClr val="5B697A"/>
                </a:solidFill>
                <a:latin typeface="Aptos"/>
              </a:defRPr>
            </a:pPr>
            <a:r>
              <a:t>Translate descriptive charts into questions for workforce planning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520440" cy="128016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1280160"/>
          </a:xfrm>
          <a:prstGeom prst="rect">
            <a:avLst/>
          </a:prstGeom>
          <a:solidFill>
            <a:srgbClr val="277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435607"/>
            <a:ext cx="3200400" cy="27432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400" b="1">
                <a:solidFill>
                  <a:srgbClr val="1C3B69"/>
                </a:solidFill>
                <a:latin typeface="Aptos"/>
              </a:defRPr>
            </a:pPr>
            <a:r>
              <a:t>Headcount 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783080"/>
            <a:ext cx="3200400" cy="749808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100" b="0">
                <a:solidFill>
                  <a:srgbClr val="26303E"/>
                </a:solidFill>
                <a:latin typeface="Aptos"/>
              </a:defRPr>
            </a:pPr>
            <a:r>
              <a:t>Product has the highest employee count in the shown department chart. This may reflect the dataset's organizational design, not necessarily a staffing surplus.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520440" cy="128016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73152" cy="1280160"/>
          </a:xfrm>
          <a:prstGeom prst="rect">
            <a:avLst/>
          </a:prstGeom>
          <a:solidFill>
            <a:srgbClr val="008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435607"/>
            <a:ext cx="3200400" cy="27432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400" b="1">
                <a:solidFill>
                  <a:srgbClr val="1C3B69"/>
                </a:solidFill>
                <a:latin typeface="Aptos"/>
              </a:defRPr>
            </a:pPr>
            <a:r>
              <a:t>Hiring trend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783080"/>
            <a:ext cx="3200400" cy="749808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100" b="0">
                <a:solidFill>
                  <a:srgbClr val="26303E"/>
                </a:solidFill>
                <a:latin typeface="Aptos"/>
              </a:defRPr>
            </a:pPr>
            <a:r>
              <a:t>Monthly hiring varies. Review recruiting demand, hiring plans, seasonality, and data completeness before interpreting peaks as business events.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520440" cy="128016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73152" cy="1280160"/>
          </a:xfrm>
          <a:prstGeom prst="rect">
            <a:avLst/>
          </a:prstGeom>
          <a:solidFill>
            <a:srgbClr val="DBA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435607"/>
            <a:ext cx="3200400" cy="27432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400" b="1">
                <a:solidFill>
                  <a:srgbClr val="1C3B69"/>
                </a:solidFill>
                <a:latin typeface="Aptos"/>
              </a:defRPr>
            </a:pPr>
            <a:r>
              <a:t>Employee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783080"/>
            <a:ext cx="3200400" cy="749808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100" b="0">
                <a:solidFill>
                  <a:srgbClr val="26303E"/>
                </a:solidFill>
                <a:latin typeface="Aptos"/>
              </a:defRPr>
            </a:pPr>
            <a:r>
              <a:t>1,512 employees are marked inactive. The status definition and timing should be confirmed before treating this as attrition or turnover.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063240"/>
            <a:ext cx="3657600" cy="32004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700" b="1">
                <a:solidFill>
                  <a:srgbClr val="1C3B69"/>
                </a:solidFill>
                <a:latin typeface="Aptos"/>
              </a:defRPr>
            </a:pPr>
            <a:r>
              <a:t>Follow-up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520440"/>
            <a:ext cx="6492240" cy="192024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6303E"/>
                </a:solidFill>
                <a:latin typeface="Aptos"/>
              </a:defRPr>
            </a:pPr>
            <a:r>
              <a:t>•  Does inactive status mean terminated, resigned, retired, on leave, or another status?</a:t>
            </a:r>
          </a:p>
          <a:p>
            <a:pPr>
              <a:spcAft>
                <a:spcPts val="800"/>
              </a:spcAft>
              <a:defRPr sz="1300">
                <a:solidFill>
                  <a:srgbClr val="26303E"/>
                </a:solidFill>
                <a:latin typeface="Aptos"/>
              </a:defRPr>
            </a:pPr>
            <a:r>
              <a:t>•  Are monthly hiring values based on hire date and counted consistently across all months?</a:t>
            </a:r>
          </a:p>
          <a:p>
            <a:pPr>
              <a:spcAft>
                <a:spcPts val="800"/>
              </a:spcAft>
              <a:defRPr sz="1300">
                <a:solidFill>
                  <a:srgbClr val="26303E"/>
                </a:solidFill>
                <a:latin typeface="Aptos"/>
              </a:defRPr>
            </a:pPr>
            <a:r>
              <a:t>•  Do the largest departments also have the highest workload, service demand, or business contribution?</a:t>
            </a:r>
          </a:p>
          <a:p>
            <a:pPr>
              <a:spcAft>
                <a:spcPts val="800"/>
              </a:spcAft>
              <a:defRPr sz="1300">
                <a:solidFill>
                  <a:srgbClr val="26303E"/>
                </a:solidFill>
                <a:latin typeface="Aptos"/>
              </a:defRPr>
            </a:pPr>
            <a:r>
              <a:t>•  How do role and qualification distributions compare with workforce plans?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3246120"/>
            <a:ext cx="3840480" cy="169164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635240" y="3246120"/>
            <a:ext cx="73152" cy="1691640"/>
          </a:xfrm>
          <a:prstGeom prst="rect">
            <a:avLst/>
          </a:prstGeom>
          <a:solidFill>
            <a:srgbClr val="3F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18119" y="3355848"/>
            <a:ext cx="3520440" cy="27432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400" b="1">
                <a:solidFill>
                  <a:srgbClr val="1C3B69"/>
                </a:solidFill>
                <a:latin typeface="Aptos"/>
              </a:defRPr>
            </a:pPr>
            <a:r>
              <a:t>Potential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19" y="3703320"/>
            <a:ext cx="3520440" cy="1161288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200" b="0">
                <a:solidFill>
                  <a:srgbClr val="26303E"/>
                </a:solidFill>
                <a:latin typeface="Aptos"/>
              </a:defRPr>
            </a:pPr>
            <a:r>
              <a:t>Use headcount and hiring trends as a planning baseline, then compare them with approved staffing plans, open requisitions, workload, and budget.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65392"/>
            <a:ext cx="9601200" cy="146304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HR Workforce And Performance Analysis  •  Somenath Sau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 algn="r">
              <a:defRPr sz="800" b="0">
                <a:solidFill>
                  <a:srgbClr val="5B697A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7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19456"/>
            <a:ext cx="2743200" cy="18288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800" b="1">
                <a:solidFill>
                  <a:srgbClr val="008C84"/>
                </a:solidFill>
                <a:latin typeface="Aptos"/>
              </a:defRPr>
            </a:pPr>
            <a:r>
              <a:t>DASHBOARD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41148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2400" b="1">
                <a:solidFill>
                  <a:srgbClr val="1C3B69"/>
                </a:solidFill>
                <a:latin typeface="Aptos"/>
              </a:defRPr>
            </a:pPr>
            <a:r>
              <a:t>Compensation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1064240" cy="32004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000" b="0">
                <a:solidFill>
                  <a:srgbClr val="5B697A"/>
                </a:solidFill>
                <a:latin typeface="Aptos"/>
              </a:defRPr>
            </a:pPr>
            <a:r>
              <a:t>How are salaries and bonuses distributed across roles and departments?</a:t>
            </a:r>
          </a:p>
        </p:txBody>
      </p:sp>
      <p:pic>
        <p:nvPicPr>
          <p:cNvPr id="6" name="Picture 5" descr="image(20261011-06352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298448"/>
            <a:ext cx="6995160" cy="3948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35240" y="1307592"/>
            <a:ext cx="4069080" cy="384048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600" b="1">
                <a:solidFill>
                  <a:srgbClr val="1C3B69"/>
                </a:solidFill>
                <a:latin typeface="Aptos"/>
              </a:defRPr>
            </a:pPr>
            <a:r>
              <a:t>Key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83080"/>
            <a:ext cx="4069080" cy="333756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•  Average salary shown: ₹75,550; maximum: ₹2,07,182; minimum: ₹13,088.</a:t>
            </a:r>
          </a:p>
          <a:p>
            <a:pPr>
              <a:spcAft>
                <a:spcPts val="80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•  Average bonus shown: ₹6,011.</a:t>
            </a:r>
          </a:p>
          <a:p>
            <a:pPr>
              <a:spcAft>
                <a:spcPts val="80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•  Product Manager has the highest displayed average salary by job role (₹1,47,747).</a:t>
            </a:r>
          </a:p>
          <a:p>
            <a:pPr>
              <a:spcAft>
                <a:spcPts val="80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•  Data Entry Operator has the lowest displayed average salary by job role (₹18,731).</a:t>
            </a:r>
          </a:p>
          <a:p>
            <a:pPr>
              <a:spcAft>
                <a:spcPts val="80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•  Customer Service has the highest displayed department average (₹76,908); Product is lowest (₹73,480).</a:t>
            </a:r>
          </a:p>
          <a:p>
            <a:pPr>
              <a:spcAft>
                <a:spcPts val="80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•  The experience-versus-gross-salary scatter shows wide variation; experience alone does not determine salary.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07808" y="5212080"/>
            <a:ext cx="4096512" cy="950976"/>
          </a:xfrm>
          <a:prstGeom prst="roundRect">
            <a:avLst/>
          </a:prstGeom>
          <a:solidFill>
            <a:srgbClr val="E0EFFC"/>
          </a:solidFill>
          <a:ln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90688" y="5321808"/>
            <a:ext cx="3657600" cy="18288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900" b="1">
                <a:solidFill>
                  <a:srgbClr val="008C84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5532120"/>
            <a:ext cx="3657600" cy="347472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000" b="0">
                <a:solidFill>
                  <a:srgbClr val="26303E"/>
                </a:solidFill>
                <a:latin typeface="Aptos"/>
              </a:defRPr>
            </a:pPr>
            <a:r>
              <a:t>Salary comparisons are descriptive. Role seniority, job level, location, currency consistency, and salary components should be considered before drawing fairness conclusions.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9601200" cy="146304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HR Workforce And Performance Analysis  •  Somenath Sau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 algn="r">
              <a:defRPr sz="800" b="0">
                <a:solidFill>
                  <a:srgbClr val="5B697A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7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19456"/>
            <a:ext cx="2743200" cy="18288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800" b="1">
                <a:solidFill>
                  <a:srgbClr val="008C84"/>
                </a:solidFill>
                <a:latin typeface="Aptos"/>
              </a:defRPr>
            </a:pPr>
            <a:r>
              <a:t>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41148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2400" b="1">
                <a:solidFill>
                  <a:srgbClr val="1C3B69"/>
                </a:solidFill>
                <a:latin typeface="Aptos"/>
              </a:defRPr>
            </a:pPr>
            <a:r>
              <a:rPr dirty="0"/>
              <a:t>Compensation </a:t>
            </a:r>
            <a:r>
              <a:rPr lang="en-US" dirty="0"/>
              <a:t>-</a:t>
            </a:r>
            <a:r>
              <a:rPr dirty="0"/>
              <a:t> Interpretation &amp; Review Areas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1064240" cy="32004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000" b="0">
                <a:solidFill>
                  <a:srgbClr val="5B697A"/>
                </a:solidFill>
                <a:latin typeface="Aptos"/>
              </a:defRPr>
            </a:pPr>
            <a:r>
              <a:t>Use role and department comparisons to prioritize investigation, not to make automatic pay decisions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520440" cy="13258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1325880"/>
          </a:xfrm>
          <a:prstGeom prst="rect">
            <a:avLst/>
          </a:prstGeom>
          <a:solidFill>
            <a:srgbClr val="277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435607"/>
            <a:ext cx="3200400" cy="27432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400" b="1">
                <a:solidFill>
                  <a:srgbClr val="1C3B69"/>
                </a:solidFill>
                <a:latin typeface="Aptos"/>
              </a:defRPr>
            </a:pPr>
            <a:r>
              <a:t>Role-level variation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783080"/>
            <a:ext cx="3200400" cy="795528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100" b="0">
                <a:solidFill>
                  <a:srgbClr val="26303E"/>
                </a:solidFill>
                <a:latin typeface="Aptos"/>
              </a:defRPr>
            </a:pPr>
            <a:r>
              <a:t>Average salary differs substantially by job role. The highest and lowest role averages may reflect differences in job responsibilities or seniority.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520440" cy="13258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73152" cy="1325880"/>
          </a:xfrm>
          <a:prstGeom prst="rect">
            <a:avLst/>
          </a:prstGeom>
          <a:solidFill>
            <a:srgbClr val="008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435607"/>
            <a:ext cx="3200400" cy="27432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400" b="1">
                <a:solidFill>
                  <a:srgbClr val="1C3B69"/>
                </a:solidFill>
                <a:latin typeface="Aptos"/>
              </a:defRPr>
            </a:pPr>
            <a:r>
              <a:t>Department-level variation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783080"/>
            <a:ext cx="3200400" cy="795528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100" b="0">
                <a:solidFill>
                  <a:srgbClr val="26303E"/>
                </a:solidFill>
                <a:latin typeface="Aptos"/>
              </a:defRPr>
            </a:pPr>
            <a:r>
              <a:t>Department averages are relatively close compared with the range across roles. The observed gap should be examined with role mix and grade structure.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520440" cy="13258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73152" cy="1325880"/>
          </a:xfrm>
          <a:prstGeom prst="rect">
            <a:avLst/>
          </a:prstGeom>
          <a:solidFill>
            <a:srgbClr val="DBA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435607"/>
            <a:ext cx="3200400" cy="27432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400" b="1">
                <a:solidFill>
                  <a:srgbClr val="1C3B69"/>
                </a:solidFill>
                <a:latin typeface="Aptos"/>
              </a:defRPr>
            </a:pPr>
            <a:r>
              <a:t>Experience relationship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783080"/>
            <a:ext cx="3200400" cy="795528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100" b="0">
                <a:solidFill>
                  <a:srgbClr val="26303E"/>
                </a:solidFill>
                <a:latin typeface="Aptos"/>
              </a:defRPr>
            </a:pPr>
            <a:r>
              <a:t>The scatterplot has considerable spread at similar experience levels. Consider role, grade, performance, location, and tenure before interpreting the relationship.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154680"/>
            <a:ext cx="4754880" cy="32004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700" b="1">
                <a:solidFill>
                  <a:srgbClr val="1C3B69"/>
                </a:solidFill>
                <a:latin typeface="Aptos"/>
              </a:defRPr>
            </a:pPr>
            <a:r>
              <a:t>Recommended compensation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566160"/>
            <a:ext cx="7315200" cy="214884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•  Confirm the intended currency unit in the source documentation; the supplied CSV files contain numeric salary fields but no currency column.</a:t>
            </a:r>
          </a:p>
          <a:p>
            <a:pPr>
              <a:spcAft>
                <a:spcPts val="80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•  Check salary outliers and verify whether maximum/minimum values are valid or data-entry errors.</a:t>
            </a:r>
          </a:p>
          <a:p>
            <a:pPr>
              <a:spcAft>
                <a:spcPts val="80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•  Compare salaries within similar job roles or job grades rather than only comparing department averages.</a:t>
            </a:r>
          </a:p>
          <a:p>
            <a:pPr>
              <a:spcAft>
                <a:spcPts val="80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•  Review gross salary, basic salary, and bonus definitions to ensure measures are not being mixed.</a:t>
            </a:r>
          </a:p>
          <a:p>
            <a:pPr>
              <a:spcAft>
                <a:spcPts val="80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•  Use median and distribution charts alongside averages, because averages can be influenced by extreme values.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3383280"/>
            <a:ext cx="3200400" cy="164592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75320" y="3383280"/>
            <a:ext cx="73152" cy="1645920"/>
          </a:xfrm>
          <a:prstGeom prst="rect">
            <a:avLst/>
          </a:prstGeom>
          <a:solidFill>
            <a:srgbClr val="C24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58200" y="3493008"/>
            <a:ext cx="2880360" cy="27432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400" b="1">
                <a:solidFill>
                  <a:srgbClr val="1C3B69"/>
                </a:solidFill>
                <a:latin typeface="Aptos"/>
              </a:defRPr>
            </a:pPr>
            <a:r>
              <a:t>Caution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840480"/>
            <a:ext cx="2880360" cy="1115568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200" b="0">
                <a:solidFill>
                  <a:srgbClr val="26303E"/>
                </a:solidFill>
                <a:latin typeface="Aptos"/>
              </a:defRPr>
            </a:pPr>
            <a:r>
              <a:t>The minimum and maximum values are useful for quality checks but should not be interpreted as fair-pay evidence on their own.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65392"/>
            <a:ext cx="9601200" cy="146304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HR Workforce And Performance Analysis  •  Somenath Sau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 algn="r">
              <a:defRPr sz="800" b="0">
                <a:solidFill>
                  <a:srgbClr val="5B697A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7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19456"/>
            <a:ext cx="2743200" cy="18288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800" b="1">
                <a:solidFill>
                  <a:srgbClr val="008C84"/>
                </a:solidFill>
                <a:latin typeface="Aptos"/>
              </a:defRPr>
            </a:pPr>
            <a:r>
              <a:t>DASHBOARD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41148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2400" b="1">
                <a:solidFill>
                  <a:srgbClr val="1C3B69"/>
                </a:solidFill>
                <a:latin typeface="Aptos"/>
              </a:defRPr>
            </a:pPr>
            <a:r>
              <a:t>Performance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1064240" cy="32004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000" b="0">
                <a:solidFill>
                  <a:srgbClr val="5B697A"/>
                </a:solidFill>
                <a:latin typeface="Aptos"/>
              </a:defRPr>
            </a:pPr>
            <a:r>
              <a:t>How do performance ratings vary across departments and roles?</a:t>
            </a:r>
          </a:p>
        </p:txBody>
      </p:sp>
      <p:pic>
        <p:nvPicPr>
          <p:cNvPr id="6" name="Picture 5" descr="image(20261011-06353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298448"/>
            <a:ext cx="6995160" cy="40123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35240" y="1307592"/>
            <a:ext cx="4069080" cy="384048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600" b="1">
                <a:solidFill>
                  <a:srgbClr val="1C3B69"/>
                </a:solidFill>
                <a:latin typeface="Aptos"/>
              </a:defRPr>
            </a:pPr>
            <a:r>
              <a:t>Key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83080"/>
            <a:ext cx="4069080" cy="333756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•  Average performance is 3.8 out of 5.</a:t>
            </a:r>
          </a:p>
          <a:p>
            <a:pPr>
              <a:spcAft>
                <a:spcPts val="80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•  The KPI cards show 5,860 high performers and 2,693 low performers under the project's current definitions.</a:t>
            </a:r>
          </a:p>
          <a:p>
            <a:pPr>
              <a:spcAft>
                <a:spcPts val="80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•  Software Engineer has the highest displayed average rating by role (3.90).</a:t>
            </a:r>
          </a:p>
          <a:p>
            <a:pPr>
              <a:spcAft>
                <a:spcPts val="80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•  Marketing has the lowest displayed department average rating (3.74); HR is highest at 3.83.</a:t>
            </a:r>
          </a:p>
          <a:p>
            <a:pPr>
              <a:spcAft>
                <a:spcPts val="80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•  The salary-versus-performance scatter shows many ratings clustered around roughly 3.6–4.0 across a range of salaries.</a:t>
            </a:r>
          </a:p>
          <a:p>
            <a:pPr>
              <a:spcAft>
                <a:spcPts val="80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•  The source contains fractional performance ratings from 1.5 to 5.0; the distribution chart reflects these values.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07808" y="5212080"/>
            <a:ext cx="4096512" cy="950976"/>
          </a:xfrm>
          <a:prstGeom prst="roundRect">
            <a:avLst/>
          </a:prstGeom>
          <a:solidFill>
            <a:srgbClr val="E0EFFC"/>
          </a:solidFill>
          <a:ln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90688" y="5321808"/>
            <a:ext cx="3657600" cy="18288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900" b="1">
                <a:solidFill>
                  <a:srgbClr val="008C84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5532120"/>
            <a:ext cx="3657600" cy="347472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000" b="0">
                <a:solidFill>
                  <a:srgbClr val="26303E"/>
                </a:solidFill>
                <a:latin typeface="Aptos"/>
              </a:defRPr>
            </a:pPr>
            <a:r>
              <a:t>The differences between department averages are small in the displayed chart. Check sample sizes and rating definitions before treating small differences as meaningful.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9601200" cy="146304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HR Workforce And Performance Analysis  •  Somenath Sau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 algn="r">
              <a:defRPr sz="800" b="0">
                <a:solidFill>
                  <a:srgbClr val="5B697A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7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19456"/>
            <a:ext cx="2743200" cy="18288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800" b="1">
                <a:solidFill>
                  <a:srgbClr val="008C84"/>
                </a:solidFill>
                <a:latin typeface="Aptos"/>
              </a:defRPr>
            </a:pPr>
            <a:r>
              <a:t>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41148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2400" b="1">
                <a:solidFill>
                  <a:srgbClr val="1C3B69"/>
                </a:solidFill>
                <a:latin typeface="Aptos"/>
              </a:defRPr>
            </a:pPr>
            <a:r>
              <a:rPr dirty="0"/>
              <a:t>Performance </a:t>
            </a:r>
            <a:r>
              <a:rPr lang="en-US" dirty="0"/>
              <a:t>-</a:t>
            </a:r>
            <a:r>
              <a:rPr dirty="0"/>
              <a:t> Interpretation &amp; Review Areas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1064240" cy="32004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000" b="0">
                <a:solidFill>
                  <a:srgbClr val="5B697A"/>
                </a:solidFill>
                <a:latin typeface="Aptos"/>
              </a:defRPr>
            </a:pPr>
            <a:r>
              <a:t>Ratings can identify where to ask questions, but do not independently explain performance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520440" cy="13258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1325880"/>
          </a:xfrm>
          <a:prstGeom prst="rect">
            <a:avLst/>
          </a:prstGeom>
          <a:solidFill>
            <a:srgbClr val="277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435607"/>
            <a:ext cx="3200400" cy="27432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400" b="1">
                <a:solidFill>
                  <a:srgbClr val="1C3B69"/>
                </a:solidFill>
                <a:latin typeface="Aptos"/>
              </a:defRPr>
            </a:pPr>
            <a:r>
              <a:t>Overall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783080"/>
            <a:ext cx="3200400" cy="795528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100" b="0">
                <a:solidFill>
                  <a:srgbClr val="26303E"/>
                </a:solidFill>
                <a:latin typeface="Aptos"/>
              </a:defRPr>
            </a:pPr>
            <a:r>
              <a:t>An average of 3.8/5 suggests ratings are concentrated above the midpoint in this dataset. Confirm the scale and rating process.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520440" cy="13258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73152" cy="1325880"/>
          </a:xfrm>
          <a:prstGeom prst="rect">
            <a:avLst/>
          </a:prstGeom>
          <a:solidFill>
            <a:srgbClr val="008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435607"/>
            <a:ext cx="3200400" cy="27432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400" b="1">
                <a:solidFill>
                  <a:srgbClr val="1C3B69"/>
                </a:solidFill>
                <a:latin typeface="Aptos"/>
              </a:defRPr>
            </a:pPr>
            <a:r>
              <a:t>Department differences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783080"/>
            <a:ext cx="3200400" cy="795528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100" b="0">
                <a:solidFill>
                  <a:srgbClr val="26303E"/>
                </a:solidFill>
                <a:latin typeface="Aptos"/>
              </a:defRPr>
            </a:pPr>
            <a:r>
              <a:t>Displayed averages range from 3.74 to 3.83. The narrow range calls for cautious interpretation rather than strong rankings.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520440" cy="13258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73152" cy="1325880"/>
          </a:xfrm>
          <a:prstGeom prst="rect">
            <a:avLst/>
          </a:prstGeom>
          <a:solidFill>
            <a:srgbClr val="DBA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435607"/>
            <a:ext cx="3200400" cy="27432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400" b="1">
                <a:solidFill>
                  <a:srgbClr val="1C3B69"/>
                </a:solidFill>
                <a:latin typeface="Aptos"/>
              </a:defRPr>
            </a:pPr>
            <a:r>
              <a:t>Salary and ratings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783080"/>
            <a:ext cx="3200400" cy="795528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100" b="0">
                <a:solidFill>
                  <a:srgbClr val="26303E"/>
                </a:solidFill>
                <a:latin typeface="Aptos"/>
              </a:defRPr>
            </a:pPr>
            <a:r>
              <a:t>The scatterplot does not show a simple one-to-one relationship. Salary and performance may be influenced by other factors.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154680"/>
            <a:ext cx="4114800" cy="32004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700" b="1">
                <a:solidFill>
                  <a:srgbClr val="1C3B69"/>
                </a:solidFill>
                <a:latin typeface="Aptos"/>
              </a:defRPr>
            </a:pPr>
            <a:r>
              <a:t>Validation and follow-up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566160"/>
            <a:ext cx="7315200" cy="21031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•  The supplied performance-rating values range from 1.5 to 5.0; confirm the intended rating policy if fractional ratings need interpretation.</a:t>
            </a:r>
          </a:p>
          <a:p>
            <a:pPr>
              <a:spcAft>
                <a:spcPts val="80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•  Validate how high and low performers are defined; the current dashboard appears to use rating thresholds.</a:t>
            </a:r>
          </a:p>
          <a:p>
            <a:pPr>
              <a:spcAft>
                <a:spcPts val="80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•  Use rating distribution and group sizes, not only average ratings.</a:t>
            </a:r>
          </a:p>
          <a:p>
            <a:pPr>
              <a:spcAft>
                <a:spcPts val="80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•  Consider role-specific performance expectations and manager calibration before comparing teams.</a:t>
            </a:r>
          </a:p>
          <a:p>
            <a:pPr>
              <a:spcAft>
                <a:spcPts val="80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•  Combine performance ratings with goals, review period, tenure, and other context where available.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3383280"/>
            <a:ext cx="3200400" cy="164592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75320" y="3383280"/>
            <a:ext cx="73152" cy="1645920"/>
          </a:xfrm>
          <a:prstGeom prst="rect">
            <a:avLst/>
          </a:prstGeom>
          <a:solidFill>
            <a:srgbClr val="C24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58200" y="3493008"/>
            <a:ext cx="2880360" cy="27432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400" b="1">
                <a:solidFill>
                  <a:srgbClr val="1C3B69"/>
                </a:solidFill>
                <a:latin typeface="Aptos"/>
              </a:defRPr>
            </a:pPr>
            <a:r>
              <a:t>Caution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840480"/>
            <a:ext cx="2880360" cy="1115568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200" b="0">
                <a:solidFill>
                  <a:srgbClr val="26303E"/>
                </a:solidFill>
                <a:latin typeface="Aptos"/>
              </a:defRPr>
            </a:pPr>
            <a:r>
              <a:t>Do not infer that a department or employee is better or worse based only on a small difference in average rating.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65392"/>
            <a:ext cx="9601200" cy="146304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HR Workforce And Performance Analysis  •  Somenath Sau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 algn="r">
              <a:defRPr sz="800" b="0">
                <a:solidFill>
                  <a:srgbClr val="5B697A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7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19456"/>
            <a:ext cx="2743200" cy="18288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800" b="1">
                <a:solidFill>
                  <a:srgbClr val="008C84"/>
                </a:solidFill>
                <a:latin typeface="Aptos"/>
              </a:defRPr>
            </a:pPr>
            <a:r>
              <a:t>DASHBOARD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41148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2400" b="1">
                <a:solidFill>
                  <a:srgbClr val="1C3B69"/>
                </a:solidFill>
                <a:latin typeface="Aptos"/>
              </a:defRPr>
            </a:pPr>
            <a:r>
              <a:t>HR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1064240" cy="32004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000" b="0">
                <a:solidFill>
                  <a:srgbClr val="5B697A"/>
                </a:solidFill>
                <a:latin typeface="Aptos"/>
              </a:defRPr>
            </a:pPr>
            <a:r>
              <a:t>Which departments and roles contain the largest counts of project-defined high-value employees?</a:t>
            </a:r>
          </a:p>
        </p:txBody>
      </p:sp>
      <p:pic>
        <p:nvPicPr>
          <p:cNvPr id="6" name="Picture 5" descr="image(20261011-06354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298448"/>
            <a:ext cx="6995160" cy="40442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35240" y="1307592"/>
            <a:ext cx="4069080" cy="384048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600" b="1">
                <a:solidFill>
                  <a:srgbClr val="1C3B69"/>
                </a:solidFill>
                <a:latin typeface="Aptos"/>
              </a:defRPr>
            </a:pPr>
            <a:r>
              <a:t>Key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83080"/>
            <a:ext cx="4069080" cy="333756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•  Average experience: 5.9 years; average salary: ₹75,550; average PF contribution: ₹9,484.</a:t>
            </a:r>
          </a:p>
          <a:p>
            <a:pPr>
              <a:spcAft>
                <a:spcPts val="80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•  2,522 employees meet the project's high-value definition.</a:t>
            </a:r>
          </a:p>
          <a:p>
            <a:pPr>
              <a:spcAft>
                <a:spcPts val="80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•  Definition used: performance rating ≥ 4, experience ≥ 5 years, and gross salary below department average.</a:t>
            </a:r>
          </a:p>
          <a:p>
            <a:pPr>
              <a:spcAft>
                <a:spcPts val="80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•  Product has the highest displayed high-value count by department (326); Marketing has the lowest (257).</a:t>
            </a:r>
          </a:p>
          <a:p>
            <a:pPr>
              <a:spcAft>
                <a:spcPts val="80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•  Marketing Specialist has the highest displayed count by role (379), followed by Data Entry Operator (366) and IT Support Specialist (353).</a:t>
            </a:r>
          </a:p>
          <a:p>
            <a:pPr>
              <a:spcAft>
                <a:spcPts val="800"/>
              </a:spcAft>
              <a:defRPr sz="1100">
                <a:solidFill>
                  <a:srgbClr val="26303E"/>
                </a:solidFill>
                <a:latin typeface="Aptos"/>
              </a:defRPr>
            </a:pPr>
            <a:r>
              <a:t>•  The definition is a project-created analytical rule, not a standard HR classification.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07808" y="5212080"/>
            <a:ext cx="4096512" cy="777240"/>
          </a:xfrm>
          <a:prstGeom prst="roundRect">
            <a:avLst/>
          </a:prstGeom>
          <a:solidFill>
            <a:srgbClr val="E0EFFC"/>
          </a:solidFill>
          <a:ln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90688" y="5321808"/>
            <a:ext cx="3657600" cy="18288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900" b="1">
                <a:solidFill>
                  <a:srgbClr val="008C84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5532120"/>
            <a:ext cx="3657600" cy="347472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000" b="0">
                <a:solidFill>
                  <a:srgbClr val="26303E"/>
                </a:solidFill>
                <a:latin typeface="Aptos"/>
              </a:defRPr>
            </a:pPr>
            <a:r>
              <a:t>Treat this segment as a starting point for retention and career-development review. Validate the criteria with HR context before making employee-level decisions.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9601200" cy="146304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HR Workforce And Performance Analysis  •  Somenath Sau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 algn="r">
              <a:defRPr sz="800" b="0">
                <a:solidFill>
                  <a:srgbClr val="5B697A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7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19456"/>
            <a:ext cx="2743200" cy="18288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800" b="1">
                <a:solidFill>
                  <a:srgbClr val="008C84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41148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2400" b="1">
                <a:solidFill>
                  <a:srgbClr val="1C3B69"/>
                </a:solidFill>
                <a:latin typeface="Aptos"/>
              </a:defRPr>
            </a:pPr>
            <a:r>
              <a:t>High-Value Employee Definition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1064240" cy="32004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000" b="0">
                <a:solidFill>
                  <a:srgbClr val="5B697A"/>
                </a:solidFill>
                <a:latin typeface="Aptos"/>
              </a:defRPr>
            </a:pPr>
            <a:r>
              <a:t>A transparent rule makes the segmentation reproducible and easier to 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212080" cy="150876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1508760"/>
          </a:xfrm>
          <a:prstGeom prst="rect">
            <a:avLst/>
          </a:prstGeom>
          <a:solidFill>
            <a:srgbClr val="008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435607"/>
            <a:ext cx="4892040" cy="27432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500" b="1">
                <a:solidFill>
                  <a:srgbClr val="1C3B69"/>
                </a:solidFill>
                <a:latin typeface="Aptos"/>
              </a:defRPr>
            </a:pPr>
            <a:r>
              <a:t>Project 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783080"/>
            <a:ext cx="4892040" cy="978407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300" b="0">
                <a:solidFill>
                  <a:srgbClr val="26303E"/>
                </a:solidFill>
                <a:latin typeface="Aptos"/>
              </a:defRPr>
            </a:pPr>
            <a:r>
              <a:t>High Value Employee = Performance Rating ≥ 4 AND Experience ≥ 5 years AND Gross Salary below the average salary of the employee's department.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57800" cy="150876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73152" cy="1508760"/>
          </a:xfrm>
          <a:prstGeom prst="rect">
            <a:avLst/>
          </a:prstGeom>
          <a:solidFill>
            <a:srgbClr val="277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435607"/>
            <a:ext cx="4937760" cy="27432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500" b="1">
                <a:solidFill>
                  <a:srgbClr val="1C3B69"/>
                </a:solidFill>
                <a:latin typeface="Aptos"/>
              </a:defRPr>
            </a:pPr>
            <a:r>
              <a:t>Why this definition was 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4937760" cy="978407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200" b="0">
                <a:solidFill>
                  <a:srgbClr val="26303E"/>
                </a:solidFill>
                <a:latin typeface="Aptos"/>
              </a:defRPr>
            </a:pPr>
            <a:r>
              <a:t>It combines performance, experience, and relative salary position to create a segment for exploratory review. It is an analytical segmentation used to prioritize further review.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46120"/>
            <a:ext cx="3657600" cy="32004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700" b="1">
                <a:solidFill>
                  <a:srgbClr val="1C3B69"/>
                </a:solidFill>
                <a:latin typeface="Aptos"/>
              </a:defRPr>
            </a:pPr>
            <a:r>
              <a:t>Limitations to disclose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10607040" cy="196596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•  A salary below department average does not automatically mean underpayment; role and grade matter.</a:t>
            </a:r>
          </a:p>
          <a:p>
            <a:pPr>
              <a:spcAft>
                <a:spcPts val="80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•  High performance and experience do not alone prove retention risk or future business contribution.</a:t>
            </a:r>
          </a:p>
          <a:p>
            <a:pPr>
              <a:spcAft>
                <a:spcPts val="80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•  The thresholds of rating ≥ 4 and experience ≥ 5 years are the defined analytical criteria for this report.</a:t>
            </a:r>
          </a:p>
          <a:p>
            <a:pPr>
              <a:spcAft>
                <a:spcPts val="80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•  The counts may change when slicers or filters are applied in Power BI.</a:t>
            </a:r>
          </a:p>
          <a:p>
            <a:pPr>
              <a:spcAft>
                <a:spcPts val="800"/>
              </a:spcAft>
              <a:defRPr sz="1200">
                <a:solidFill>
                  <a:srgbClr val="26303E"/>
                </a:solidFill>
                <a:latin typeface="Aptos"/>
              </a:defRPr>
            </a:pPr>
            <a:r>
              <a:t>•  Employee-level decisions should never be made from this rule without additional evidence and appropriate review.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65392"/>
            <a:ext cx="9601200" cy="146304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HR Workforce And Performance Analysis  •  Somenath Sau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 algn="r">
              <a:defRPr sz="800" b="0">
                <a:solidFill>
                  <a:srgbClr val="5B697A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7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19456"/>
            <a:ext cx="2743200" cy="18288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800" b="1">
                <a:solidFill>
                  <a:srgbClr val="008C84"/>
                </a:solidFill>
                <a:latin typeface="Aptos"/>
              </a:defRPr>
            </a:pPr>
            <a:r>
              <a:t>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41148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2400" b="1">
                <a:solidFill>
                  <a:srgbClr val="1C3B69"/>
                </a:solidFill>
                <a:latin typeface="Aptos"/>
              </a:defRPr>
            </a:pPr>
            <a:r>
              <a:t>Department HR 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1064240" cy="32004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000" b="0">
                <a:solidFill>
                  <a:srgbClr val="5B697A"/>
                </a:solidFill>
                <a:latin typeface="Aptos"/>
              </a:defRPr>
            </a:pPr>
            <a:r>
              <a:t>A compact view of headcount, salary, performance, and experience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031388"/>
              </p:ext>
            </p:extLst>
          </p:nvPr>
        </p:nvGraphicFramePr>
        <p:xfrm>
          <a:off x="865238" y="1325880"/>
          <a:ext cx="1033616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91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56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53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316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Department</a:t>
                      </a:r>
                    </a:p>
                  </a:txBody>
                  <a:tcPr marL="64008" marR="45720" marT="36576" marB="27432" anchor="ctr">
                    <a:solidFill>
                      <a:srgbClr val="1C3B6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Employees</a:t>
                      </a:r>
                    </a:p>
                  </a:txBody>
                  <a:tcPr marL="64008" marR="45720" marT="36576" marB="27432" anchor="ctr">
                    <a:solidFill>
                      <a:srgbClr val="1C3B6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Avg. Salary</a:t>
                      </a:r>
                    </a:p>
                  </a:txBody>
                  <a:tcPr marL="64008" marR="45720" marT="36576" marB="27432" anchor="ctr">
                    <a:solidFill>
                      <a:srgbClr val="1C3B6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Avg. Performance</a:t>
                      </a:r>
                    </a:p>
                  </a:txBody>
                  <a:tcPr marL="64008" marR="45720" marT="36576" marB="27432" anchor="ctr">
                    <a:solidFill>
                      <a:srgbClr val="1C3B6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Avg. Experience</a:t>
                      </a:r>
                    </a:p>
                  </a:txBody>
                  <a:tcPr marL="64008" marR="45720" marT="36576" marB="27432" anchor="ctr">
                    <a:solidFill>
                      <a:srgbClr val="1C3B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167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Marketing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1,067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₹75,546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3.7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5.8 years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167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Customer Service</a:t>
                      </a:r>
                    </a:p>
                  </a:txBody>
                  <a:tcPr marL="64008" marR="45720" marT="36576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1,079</a:t>
                      </a:r>
                    </a:p>
                  </a:txBody>
                  <a:tcPr marL="64008" marR="45720" marT="36576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₹76,908</a:t>
                      </a:r>
                    </a:p>
                  </a:txBody>
                  <a:tcPr marL="64008" marR="45720" marT="36576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3.8</a:t>
                      </a:r>
                    </a:p>
                  </a:txBody>
                  <a:tcPr marL="64008" marR="45720" marT="36576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5.9 years</a:t>
                      </a:r>
                    </a:p>
                  </a:txBody>
                  <a:tcPr marL="64008" marR="45720" marT="36576" marB="27432" anchor="ctr"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167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HR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1,092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₹75,315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3.8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6.1 years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167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IT</a:t>
                      </a:r>
                    </a:p>
                  </a:txBody>
                  <a:tcPr marL="64008" marR="45720" marT="36576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1,109</a:t>
                      </a:r>
                    </a:p>
                  </a:txBody>
                  <a:tcPr marL="64008" marR="45720" marT="36576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₹76,038</a:t>
                      </a:r>
                    </a:p>
                  </a:txBody>
                  <a:tcPr marL="64008" marR="45720" marT="36576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3.8</a:t>
                      </a:r>
                    </a:p>
                  </a:txBody>
                  <a:tcPr marL="64008" marR="45720" marT="36576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6.0 years</a:t>
                      </a:r>
                    </a:p>
                  </a:txBody>
                  <a:tcPr marL="64008" marR="45720" marT="36576" marB="27432" anchor="ctr"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167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Finance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1,113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₹75,747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3.8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5.9 years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167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Operations</a:t>
                      </a:r>
                    </a:p>
                  </a:txBody>
                  <a:tcPr marL="64008" marR="45720" marT="36576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1,115</a:t>
                      </a:r>
                    </a:p>
                  </a:txBody>
                  <a:tcPr marL="64008" marR="45720" marT="36576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₹76,013</a:t>
                      </a:r>
                    </a:p>
                  </a:txBody>
                  <a:tcPr marL="64008" marR="45720" marT="36576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3.8</a:t>
                      </a:r>
                    </a:p>
                  </a:txBody>
                  <a:tcPr marL="64008" marR="45720" marT="36576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rPr dirty="0"/>
                        <a:t>5.9 years</a:t>
                      </a:r>
                    </a:p>
                  </a:txBody>
                  <a:tcPr marL="64008" marR="45720" marT="36576" marB="27432" anchor="ctr"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167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Sales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1,128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₹75,442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3.8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5.8 years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167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Engineering</a:t>
                      </a:r>
                    </a:p>
                  </a:txBody>
                  <a:tcPr marL="64008" marR="45720" marT="36576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1,131</a:t>
                      </a:r>
                    </a:p>
                  </a:txBody>
                  <a:tcPr marL="64008" marR="45720" marT="36576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₹75,599</a:t>
                      </a:r>
                    </a:p>
                  </a:txBody>
                  <a:tcPr marL="64008" marR="45720" marT="36576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3.8</a:t>
                      </a:r>
                    </a:p>
                  </a:txBody>
                  <a:tcPr marL="64008" marR="45720" marT="36576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5.9 years</a:t>
                      </a:r>
                    </a:p>
                  </a:txBody>
                  <a:tcPr marL="64008" marR="45720" marT="36576" marB="27432" anchor="ctr"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3167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Product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1,166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₹73,480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3.8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6.0 years</a:t>
                      </a:r>
                    </a:p>
                  </a:txBody>
                  <a:tcPr marL="64008" marR="45720" marT="36576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317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TOTAL / OVERALL</a:t>
                      </a:r>
                    </a:p>
                  </a:txBody>
                  <a:tcPr marL="64008" marR="45720" marT="36576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10,000</a:t>
                      </a:r>
                    </a:p>
                  </a:txBody>
                  <a:tcPr marL="64008" marR="45720" marT="36576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₹75,550</a:t>
                      </a:r>
                    </a:p>
                  </a:txBody>
                  <a:tcPr marL="64008" marR="45720" marT="36576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t>3.8</a:t>
                      </a:r>
                    </a:p>
                  </a:txBody>
                  <a:tcPr marL="64008" marR="45720" marT="36576" marB="27432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6303E"/>
                          </a:solidFill>
                          <a:latin typeface="Aptos"/>
                        </a:defRPr>
                      </a:pPr>
                      <a:r>
                        <a:rPr dirty="0"/>
                        <a:t>5.9 years</a:t>
                      </a:r>
                    </a:p>
                  </a:txBody>
                  <a:tcPr marL="64008" marR="45720" marT="36576" marB="27432" anchor="ctr"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565392"/>
            <a:ext cx="9601200" cy="146304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HR Workforce And Performance Analysis  •  Somenath Sau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 algn="r">
              <a:defRPr sz="800" b="0">
                <a:solidFill>
                  <a:srgbClr val="5B697A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7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19456"/>
            <a:ext cx="2743200" cy="18288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800" b="1">
                <a:solidFill>
                  <a:srgbClr val="008C84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41148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2400" b="1">
                <a:solidFill>
                  <a:srgbClr val="1C3B69"/>
                </a:solidFill>
                <a:latin typeface="Aptos"/>
              </a:defRPr>
            </a:pPr>
            <a:r>
              <a:t>Recommendations &amp; 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1064240" cy="32004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000" b="0">
                <a:solidFill>
                  <a:srgbClr val="5B697A"/>
                </a:solidFill>
                <a:latin typeface="Aptos"/>
              </a:defRPr>
            </a:pPr>
            <a:r>
              <a:t>Practical follow-up actions grounded in the current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10835640" cy="74980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73152" cy="749808"/>
          </a:xfrm>
          <a:prstGeom prst="rect">
            <a:avLst/>
          </a:prstGeom>
          <a:solidFill>
            <a:srgbClr val="277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44168"/>
            <a:ext cx="10515600" cy="27432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300" b="1">
                <a:solidFill>
                  <a:srgbClr val="1C3B69"/>
                </a:solidFill>
                <a:latin typeface="Aptos"/>
              </a:defRPr>
            </a:pPr>
            <a:r>
              <a:t>1. Validate data definitions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10515600" cy="219456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000" b="0">
                <a:solidFill>
                  <a:srgbClr val="26303E"/>
                </a:solidFill>
                <a:latin typeface="Aptos"/>
              </a:defRPr>
            </a:pPr>
            <a:r>
              <a:t>Confirm active/inactive status, rating scale, salary currency, salary components, and hire-date conventions.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10835640" cy="74980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148840"/>
            <a:ext cx="73152" cy="749808"/>
          </a:xfrm>
          <a:prstGeom prst="rect">
            <a:avLst/>
          </a:prstGeom>
          <a:solidFill>
            <a:srgbClr val="008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258568"/>
            <a:ext cx="10515600" cy="27432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300" b="1">
                <a:solidFill>
                  <a:srgbClr val="1C3B69"/>
                </a:solidFill>
                <a:latin typeface="Aptos"/>
              </a:defRPr>
            </a:pPr>
            <a:r>
              <a:t>2. Investigate compensation variation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06040"/>
            <a:ext cx="10515600" cy="219456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000" b="0">
                <a:solidFill>
                  <a:srgbClr val="26303E"/>
                </a:solidFill>
                <a:latin typeface="Aptos"/>
              </a:defRPr>
            </a:pPr>
            <a:r>
              <a:t>Compare employees within equivalent roles and grades; check valid outliers and salary distributions.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63240"/>
            <a:ext cx="10835640" cy="74980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063240"/>
            <a:ext cx="73152" cy="749808"/>
          </a:xfrm>
          <a:prstGeom prst="rect">
            <a:avLst/>
          </a:prstGeom>
          <a:solidFill>
            <a:srgbClr val="DBA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172968"/>
            <a:ext cx="10515600" cy="27432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300" b="1">
                <a:solidFill>
                  <a:srgbClr val="1C3B69"/>
                </a:solidFill>
                <a:latin typeface="Aptos"/>
              </a:defRPr>
            </a:pPr>
            <a:r>
              <a:t>3. Review performance patterns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520440"/>
            <a:ext cx="10515600" cy="219456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000" b="0">
                <a:solidFill>
                  <a:srgbClr val="26303E"/>
                </a:solidFill>
                <a:latin typeface="Aptos"/>
              </a:defRPr>
            </a:pPr>
            <a:r>
              <a:t>Check rating calibration, group sizes, role expectations, and the small differences between department averages.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77639"/>
            <a:ext cx="10835640" cy="74980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977639"/>
            <a:ext cx="73152" cy="749808"/>
          </a:xfrm>
          <a:prstGeom prst="rect">
            <a:avLst/>
          </a:prstGeom>
          <a:solidFill>
            <a:srgbClr val="3F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087368"/>
            <a:ext cx="10515600" cy="27432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300" b="1">
                <a:solidFill>
                  <a:srgbClr val="1C3B69"/>
                </a:solidFill>
                <a:latin typeface="Aptos"/>
              </a:defRPr>
            </a:pPr>
            <a:r>
              <a:t>4. Explore the high-value segment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434840"/>
            <a:ext cx="10515600" cy="219456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000" b="0">
                <a:solidFill>
                  <a:srgbClr val="26303E"/>
                </a:solidFill>
                <a:latin typeface="Aptos"/>
              </a:defRPr>
            </a:pPr>
            <a:r>
              <a:t>Review whether the criteria are appropriate; combine with engagement, promotion, and attrition information if available.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92040"/>
            <a:ext cx="10835640" cy="74980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4892040"/>
            <a:ext cx="73152" cy="749808"/>
          </a:xfrm>
          <a:prstGeom prst="rect">
            <a:avLst/>
          </a:prstGeom>
          <a:solidFill>
            <a:srgbClr val="1C3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5001768"/>
            <a:ext cx="10515600" cy="27432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300" b="1">
                <a:solidFill>
                  <a:srgbClr val="1C3B69"/>
                </a:solidFill>
                <a:latin typeface="Aptos"/>
              </a:defRPr>
            </a:pPr>
            <a:r>
              <a:t>5. Turn insights into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349240"/>
            <a:ext cx="10515600" cy="219456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000" b="0">
                <a:solidFill>
                  <a:srgbClr val="26303E"/>
                </a:solidFill>
                <a:latin typeface="Aptos"/>
              </a:defRPr>
            </a:pPr>
            <a:r>
              <a:t>Agree on owners, business questions, review cadence, and follow-up measures with relevant HR stakeholders.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65392"/>
            <a:ext cx="9601200" cy="146304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HR Workforce And Performance Analysis  •  Somenath Sau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 algn="r">
              <a:defRPr sz="800" b="0">
                <a:solidFill>
                  <a:srgbClr val="5B697A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77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19456"/>
            <a:ext cx="2743200" cy="18288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800" b="1">
                <a:solidFill>
                  <a:srgbClr val="008C84"/>
                </a:solidFill>
                <a:latin typeface="Aptos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1155680" cy="41148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2400" b="1">
                <a:solidFill>
                  <a:srgbClr val="1C3B69"/>
                </a:solidFill>
                <a:latin typeface="Aptos"/>
              </a:defRPr>
            </a:pPr>
            <a:r>
              <a:t>Conclusion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1064240" cy="32004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000" b="0">
                <a:solidFill>
                  <a:srgbClr val="5B697A"/>
                </a:solidFill>
                <a:latin typeface="Aptos"/>
              </a:defRPr>
            </a:pPr>
            <a:r>
              <a:t>The report establishes a baseline and highlights where deeper HR analysis may help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49240" cy="137160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73152" cy="1371600"/>
          </a:xfrm>
          <a:prstGeom prst="rect">
            <a:avLst/>
          </a:prstGeom>
          <a:solidFill>
            <a:srgbClr val="277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481328"/>
            <a:ext cx="5029200" cy="27432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500" b="1">
                <a:solidFill>
                  <a:srgbClr val="1C3B69"/>
                </a:solidFill>
                <a:latin typeface="Aptos"/>
              </a:defRPr>
            </a:pPr>
            <a:r>
              <a:t>What this report delivers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28800"/>
            <a:ext cx="5029200" cy="841248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200" b="0">
                <a:solidFill>
                  <a:srgbClr val="26303E"/>
                </a:solidFill>
                <a:latin typeface="Aptos"/>
              </a:defRPr>
            </a:pPr>
            <a:r>
              <a:t>A four-page Power BI view of workforce composition, compensation, performance, and an explicitly defined high-value employee segment.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49240" cy="137160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0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73152" cy="1371600"/>
          </a:xfrm>
          <a:prstGeom prst="rect">
            <a:avLst/>
          </a:prstGeom>
          <a:solidFill>
            <a:srgbClr val="C24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481328"/>
            <a:ext cx="5029200" cy="27432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500" b="1">
                <a:solidFill>
                  <a:srgbClr val="1C3B69"/>
                </a:solidFill>
                <a:latin typeface="Aptos"/>
              </a:defRPr>
            </a:pPr>
            <a:r>
              <a:t>What it does not establish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5029200" cy="841248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200" b="0">
                <a:solidFill>
                  <a:srgbClr val="26303E"/>
                </a:solidFill>
                <a:latin typeface="Aptos"/>
              </a:defRPr>
            </a:pPr>
            <a:r>
              <a:t>It does not prove causes of salary differences, explain why hiring changes, establish attrition drivers, or validate the high-value rule.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46120"/>
            <a:ext cx="2743200" cy="32004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800" b="1">
                <a:solidFill>
                  <a:srgbClr val="1C3B69"/>
                </a:solidFill>
                <a:latin typeface="Aptos"/>
              </a:defRPr>
            </a:pPr>
            <a:r>
              <a:t>Final message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03320"/>
            <a:ext cx="10607040" cy="91440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2000" b="0">
                <a:solidFill>
                  <a:srgbClr val="26303E"/>
                </a:solidFill>
                <a:latin typeface="Aptos"/>
              </a:defRPr>
            </a:pPr>
            <a:r>
              <a:t>The analysis is most useful as a starting point for targeted questions. Use the findings alongside workforce policies, role context, and business priorities to guide focused HR actions.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66360"/>
            <a:ext cx="2743200" cy="41148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2400" b="1">
                <a:solidFill>
                  <a:srgbClr val="008C84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5596128"/>
            <a:ext cx="6400800" cy="274320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1200" b="0">
                <a:solidFill>
                  <a:srgbClr val="5B697A"/>
                </a:solidFill>
                <a:latin typeface="Aptos"/>
              </a:defRPr>
            </a:pPr>
            <a:r>
              <a:t>HR Workforce And Performance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65392"/>
            <a:ext cx="9601200" cy="146304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>
              <a:defRPr sz="800" b="0">
                <a:solidFill>
                  <a:srgbClr val="5B697A"/>
                </a:solidFill>
                <a:latin typeface="Aptos"/>
              </a:defRPr>
            </a:pPr>
            <a:r>
              <a:t>HR Workforce And Performance Analysis  •  Somenath Sau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547104"/>
            <a:ext cx="411480" cy="164592"/>
          </a:xfrm>
          <a:prstGeom prst="rect">
            <a:avLst/>
          </a:prstGeom>
          <a:noFill/>
        </p:spPr>
        <p:txBody>
          <a:bodyPr wrap="square" lIns="36576" tIns="22860" rIns="36576" bIns="18288" anchor="t">
            <a:spAutoFit/>
          </a:bodyPr>
          <a:lstStyle/>
          <a:p>
            <a:pPr algn="r">
              <a:defRPr sz="800" b="0">
                <a:solidFill>
                  <a:srgbClr val="5B697A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2395</Words>
  <Application>Microsoft Office PowerPoint</Application>
  <PresentationFormat>Widescreen</PresentationFormat>
  <Paragraphs>290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Somenath Sau</cp:lastModifiedBy>
  <cp:revision>3</cp:revision>
  <dcterms:created xsi:type="dcterms:W3CDTF">2013-01-27T09:14:16Z</dcterms:created>
  <dcterms:modified xsi:type="dcterms:W3CDTF">2026-10-11T11:17:34Z</dcterms:modified>
  <cp:category/>
</cp:coreProperties>
</file>